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0BEC2D-779E-4F2F-8BD5-84C71F77C0FF}" v="58" dt="2025-08-23T04:19:27.8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63" d="100"/>
          <a:sy n="63" d="100"/>
        </p:scale>
        <p:origin x="7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8/22/2025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8/22/2025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8/22/2025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8/22/2025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11680" y="2082799"/>
            <a:ext cx="7589520" cy="898843"/>
          </a:xfrm>
        </p:spPr>
        <p:txBody>
          <a:bodyPr>
            <a:normAutofit/>
          </a:bodyPr>
          <a:lstStyle/>
          <a:p>
            <a:pPr algn="r">
              <a:lnSpc>
                <a:spcPct val="70000"/>
              </a:lnSpc>
              <a:spcBef>
                <a:spcPts val="1000"/>
              </a:spcBef>
            </a:pPr>
            <a:r>
              <a:rPr lang="en-IN" sz="2800" dirty="0">
                <a:latin typeface="Times New Roman" panose="02020603050405020304" charset="0"/>
                <a:ea typeface="+mn-ea"/>
                <a:cs typeface="Times New Roman" panose="02020603050405020304" charset="0"/>
              </a:rPr>
              <a:t>AI-DRIVEN CUSTOMIZED CYBER SECURITY TRAINING AND AWARENESS</a:t>
            </a:r>
            <a:endParaRPr lang="en-US" sz="2800" dirty="0">
              <a:latin typeface="Times New Roman" panose="02020603050405020304" charset="0"/>
              <a:ea typeface="+mn-ea"/>
              <a:cs typeface="Times New Roman" panose="02020603050405020304" charset="0"/>
            </a:endParaRPr>
          </a:p>
        </p:txBody>
      </p:sp>
      <p:sp>
        <p:nvSpPr>
          <p:cNvPr id="3" name="Subtitle 2"/>
          <p:cNvSpPr>
            <a:spLocks noGrp="1"/>
          </p:cNvSpPr>
          <p:nvPr>
            <p:ph type="subTitle" idx="1"/>
          </p:nvPr>
        </p:nvSpPr>
        <p:spPr/>
        <p:txBody>
          <a:bodyPr>
            <a:normAutofit fontScale="90000" lnSpcReduction="20000"/>
          </a:bodyPr>
          <a:lstStyle/>
          <a:p>
            <a:pPr algn="r"/>
            <a:endParaRPr lang="en-US" dirty="0">
              <a:latin typeface="Times New Roman" panose="02020603050405020304" charset="0"/>
              <a:cs typeface="Times New Roman" panose="02020603050405020304" charset="0"/>
              <a:sym typeface="+mn-ea"/>
            </a:endParaRPr>
          </a:p>
          <a:p>
            <a:pPr algn="r"/>
            <a:endParaRPr lang="en-US" dirty="0">
              <a:latin typeface="Times New Roman" panose="02020603050405020304" charset="0"/>
              <a:cs typeface="Times New Roman" panose="02020603050405020304" charset="0"/>
              <a:sym typeface="+mn-ea"/>
            </a:endParaRPr>
          </a:p>
          <a:p>
            <a:pPr algn="r"/>
            <a:r>
              <a:rPr lang="en-US" sz="3110" dirty="0">
                <a:latin typeface="Times New Roman" panose="02020603050405020304" charset="0"/>
                <a:cs typeface="Times New Roman" panose="02020603050405020304" charset="0"/>
                <a:sym typeface="+mn-ea"/>
              </a:rPr>
              <a:t>NAME: </a:t>
            </a:r>
            <a:r>
              <a:rPr lang="en-IN" altLang="en-US" sz="3110" dirty="0">
                <a:latin typeface="Times New Roman" panose="02020603050405020304" charset="0"/>
                <a:cs typeface="Times New Roman" panose="02020603050405020304" charset="0"/>
                <a:sym typeface="+mn-ea"/>
              </a:rPr>
              <a:t>BHAVANI S</a:t>
            </a:r>
            <a:endParaRPr lang="en-US" sz="3110" dirty="0">
              <a:solidFill>
                <a:schemeClr val="tx1"/>
              </a:solidFill>
              <a:latin typeface="Times New Roman" panose="02020603050405020304" charset="0"/>
              <a:cs typeface="Times New Roman" panose="02020603050405020304" charset="0"/>
            </a:endParaRPr>
          </a:p>
          <a:p>
            <a:pPr algn="r"/>
            <a:r>
              <a:rPr lang="en-US" sz="3110" dirty="0">
                <a:latin typeface="Times New Roman" panose="02020603050405020304" charset="0"/>
                <a:cs typeface="Times New Roman" panose="02020603050405020304" charset="0"/>
                <a:sym typeface="+mn-ea"/>
              </a:rPr>
              <a:t>HALLTICKET NO: 151223862025</a:t>
            </a:r>
            <a:endParaRPr lang="en-IN" altLang="en-US" sz="3110" dirty="0">
              <a:latin typeface="Times New Roman" panose="02020603050405020304" charset="0"/>
              <a:cs typeface="Times New Roman" panose="020206030504050203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920" y="0"/>
            <a:ext cx="10515600" cy="1325563"/>
          </a:xfrm>
        </p:spPr>
        <p:txBody>
          <a:bodyPr/>
          <a:lstStyle/>
          <a:p>
            <a:pPr algn="ctr"/>
            <a:r>
              <a:rPr lang="en-US" sz="2800" b="1" dirty="0">
                <a:latin typeface="Times New Roman" panose="02020603050405020304" charset="0"/>
                <a:cs typeface="Times New Roman" panose="02020603050405020304" charset="0"/>
                <a:sym typeface="+mn-ea"/>
              </a:rPr>
              <a:t>ABSTRACT</a:t>
            </a:r>
            <a:endParaRPr lang="en-US" sz="2800" dirty="0"/>
          </a:p>
        </p:txBody>
      </p:sp>
      <p:sp>
        <p:nvSpPr>
          <p:cNvPr id="4" name="Rectangle 1">
            <a:extLst>
              <a:ext uri="{FF2B5EF4-FFF2-40B4-BE49-F238E27FC236}">
                <a16:creationId xmlns:a16="http://schemas.microsoft.com/office/drawing/2014/main" id="{0293BE1A-539A-715B-9BC2-B94A300B6463}"/>
              </a:ext>
            </a:extLst>
          </p:cNvPr>
          <p:cNvSpPr>
            <a:spLocks noChangeArrowheads="1"/>
          </p:cNvSpPr>
          <p:nvPr/>
        </p:nvSpPr>
        <p:spPr bwMode="auto">
          <a:xfrm>
            <a:off x="331742" y="1223328"/>
            <a:ext cx="11528516" cy="502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Artificial Intelligence (AI) has been effectively used to enhance understanding, investigation, and evaluation of cyber threats.</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AI can efficiently anticipate cyber risks, making threat detection and response more proactive.</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AI assists in developing and implementing strategies to protect digital assets and sensitive data.</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Due to the complexity and evolving nature of cybersecurity, understanding controls and adopting effective training, security policies, and plans remain challenging.</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Both cyber academics and practitioners require a deep understanding of cybersecurity rules and practices.</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AI can be a crucial asset in educating users and raising awareness about cybersecurity.</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The study focuses on how AI-driven mechanisms can efficiently support the entire cybersecurity education life cycle.</a:t>
            </a:r>
          </a:p>
          <a:p>
            <a:pPr marL="228600" marR="0" lvl="0" indent="-228600" algn="just" fontAlgn="base">
              <a:lnSpc>
                <a:spcPct val="12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AI can help in the fast and accurate creation of cybersecurity policies to meet required standards.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 y="-207531"/>
            <a:ext cx="10515600" cy="1325563"/>
          </a:xfrm>
        </p:spPr>
        <p:txBody>
          <a:bodyPr/>
          <a:lstStyle/>
          <a:p>
            <a:pPr algn="ctr"/>
            <a:r>
              <a:rPr lang="en-IN" altLang="en-US" sz="2800" b="1" dirty="0">
                <a:latin typeface="Times New Roman" panose="02020603050405020304" charset="0"/>
                <a:cs typeface="Times New Roman" panose="02020603050405020304" charset="0"/>
                <a:sym typeface="+mn-ea"/>
              </a:rPr>
              <a:t>EXISTING SYSTEM </a:t>
            </a:r>
            <a:endParaRPr lang="en-US" sz="2800" dirty="0"/>
          </a:p>
        </p:txBody>
      </p:sp>
      <p:sp>
        <p:nvSpPr>
          <p:cNvPr id="5" name="Rectangle 2">
            <a:extLst>
              <a:ext uri="{FF2B5EF4-FFF2-40B4-BE49-F238E27FC236}">
                <a16:creationId xmlns:a16="http://schemas.microsoft.com/office/drawing/2014/main" id="{82ED5CAB-BC24-498C-032E-124EE8E8CF5F}"/>
              </a:ext>
            </a:extLst>
          </p:cNvPr>
          <p:cNvSpPr>
            <a:spLocks noGrp="1" noChangeArrowheads="1"/>
          </p:cNvSpPr>
          <p:nvPr>
            <p:ph idx="1"/>
          </p:nvPr>
        </p:nvSpPr>
        <p:spPr bwMode="auto">
          <a:xfrm>
            <a:off x="675639" y="1118032"/>
            <a:ext cx="10281745"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Many cybersecurity training programs use generic, one-size-fits-all content that doesn't address the specific roles or responsibilities of different employees.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This lack of personalization leads to low engagement and poor knowledge retention, as employees struggle to relate the material to their day-to-day work.</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The programs often fail to consider diverse learning styles and skill levels, making it difficult for all employees to effectively absorb the content.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Traditional training lacks adaptability and cannot keep up with the fast-changing landscape of cybersecurity threats.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There is often a lack of interactive elements and real-time feedback, which limits the effectiveness of the learning experience.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The absence of practical simulations, such as phishing tests, leaves employees unprepared for real-world cyber attacks, increasing organizational risk.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241" y="111125"/>
            <a:ext cx="10515600" cy="1325563"/>
          </a:xfrm>
        </p:spPr>
        <p:txBody>
          <a:bodyPr/>
          <a:lstStyle/>
          <a:p>
            <a:pPr algn="ctr"/>
            <a:r>
              <a:rPr lang="en-IN" altLang="en-US" sz="2800" b="1">
                <a:latin typeface="Times New Roman" panose="02020603050405020304" charset="0"/>
                <a:cs typeface="Times New Roman" panose="02020603050405020304" charset="0"/>
                <a:sym typeface="+mn-ea"/>
              </a:rPr>
              <a:t>REVIEW OF LITERATURE </a:t>
            </a:r>
            <a:endParaRPr lang="en-US" sz="2800"/>
          </a:p>
        </p:txBody>
      </p:sp>
      <p:sp>
        <p:nvSpPr>
          <p:cNvPr id="4" name="Rectangle 1">
            <a:extLst>
              <a:ext uri="{FF2B5EF4-FFF2-40B4-BE49-F238E27FC236}">
                <a16:creationId xmlns:a16="http://schemas.microsoft.com/office/drawing/2014/main" id="{E4884C33-9609-A93C-DDAF-5370C86D92DA}"/>
              </a:ext>
            </a:extLst>
          </p:cNvPr>
          <p:cNvSpPr>
            <a:spLocks noGrp="1" noChangeArrowheads="1"/>
          </p:cNvSpPr>
          <p:nvPr>
            <p:ph idx="1"/>
          </p:nvPr>
        </p:nvSpPr>
        <p:spPr bwMode="auto">
          <a:xfrm>
            <a:off x="499241" y="1249909"/>
            <a:ext cx="11376397"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Ranjan, Sharma, and Gupta (2020) highlight AI-driven systems that personalize cybersecurity training based on employee skills and learning styles, improving knowledge retention and addressing gaps.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Alharthi, Alghamdi, and Khan (2021) show that adaptive AI learning adjusts content and feedback in real time, enhancing the effectiveness of cybersecurity awareness programs.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Burgess, Patel, and Roberts (2019) demonstrate AI-powered phishing simulations to assess employee risk and identify weak points for targeted training.</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Sheng, Wang, and Li (2021) use AI behavioral analytics to detect risky user actions and tailor training to address vulnerabilities and risky habits.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Higgins, Morgan, and Wright (2020) find gamification boosts engagement and retention in cybersecurity training, with AI personalizing challenges based on performance.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García, Fernández, and Torres (2021) explore AI-powered gamification that adapts game challenges to user preferences, reinforcing cybersecurity knowledge through interactive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a:latin typeface="Times New Roman" panose="02020603050405020304" charset="0"/>
                <a:cs typeface="Times New Roman" panose="02020603050405020304" charset="0"/>
                <a:sym typeface="+mn-ea"/>
              </a:rPr>
              <a:t>PROPOSED SYSTEM </a:t>
            </a:r>
            <a:endParaRPr lang="en-US" sz="2800"/>
          </a:p>
        </p:txBody>
      </p:sp>
      <p:sp>
        <p:nvSpPr>
          <p:cNvPr id="4" name="Rectangle 1">
            <a:extLst>
              <a:ext uri="{FF2B5EF4-FFF2-40B4-BE49-F238E27FC236}">
                <a16:creationId xmlns:a16="http://schemas.microsoft.com/office/drawing/2014/main" id="{DB3BDE0C-ED73-F37D-CE64-B911BC0E9F10}"/>
              </a:ext>
            </a:extLst>
          </p:cNvPr>
          <p:cNvSpPr>
            <a:spLocks noGrp="1" noChangeArrowheads="1"/>
          </p:cNvSpPr>
          <p:nvPr>
            <p:ph idx="1"/>
          </p:nvPr>
        </p:nvSpPr>
        <p:spPr bwMode="auto">
          <a:xfrm>
            <a:off x="238760" y="1475736"/>
            <a:ext cx="10784839"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Utilizes artificial intelligence to create personalized learning paths tailored to each employee’s role, prior knowledge, and learning preferences.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Incorporates interactive elements such as gamified content and real-time simulations to boost engagement and provide hands-on practice in a safe environment.</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Continuously updates training materials based on the latest cybersecurity threats and incidents to ensure relevance and effectiveness.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Provides immediate feedback on employee performance to identify weaknesses and reinforce learning, promoting a proactive cybersecurity culture.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25780" y="437515"/>
            <a:ext cx="10828020" cy="5739765"/>
          </a:xfrm>
        </p:spPr>
        <p:txBody>
          <a:bodyPr>
            <a:normAutofit fontScale="92500" lnSpcReduction="10000"/>
          </a:bodyPr>
          <a:lstStyle/>
          <a:p>
            <a:pPr marL="0" indent="0" eaLnBrk="0" fontAlgn="base" hangingPunct="0">
              <a:lnSpc>
                <a:spcPct val="160000"/>
              </a:lnSpc>
              <a:spcBef>
                <a:spcPct val="0"/>
              </a:spcBef>
              <a:spcAft>
                <a:spcPct val="0"/>
              </a:spcAft>
              <a:buNone/>
            </a:pPr>
            <a:r>
              <a:rPr lang="en-US" sz="2200" b="1" dirty="0">
                <a:latin typeface="Times New Roman" panose="02020603050405020304" charset="0"/>
                <a:cs typeface="Times New Roman" panose="02020603050405020304" charset="0"/>
              </a:rPr>
              <a:t>HARDWARE REQUIREMENTS</a:t>
            </a:r>
          </a:p>
          <a:p>
            <a:pPr marL="0" indent="0" eaLnBrk="0" fontAlgn="base" hangingPunct="0">
              <a:lnSpc>
                <a:spcPct val="160000"/>
              </a:lnSpc>
              <a:spcBef>
                <a:spcPct val="0"/>
              </a:spcBef>
              <a:spcAft>
                <a:spcPct val="0"/>
              </a:spcAft>
              <a:buFontTx/>
              <a:buChar char="•"/>
            </a:pPr>
            <a:r>
              <a:rPr lang="en-US" sz="2200" dirty="0">
                <a:latin typeface="Times New Roman" panose="02020603050405020304" charset="0"/>
                <a:cs typeface="Times New Roman" panose="02020603050405020304" charset="0"/>
              </a:rPr>
              <a:t> </a:t>
            </a:r>
            <a:r>
              <a:rPr lang="en-GB" sz="2200" b="1" dirty="0">
                <a:latin typeface="Times New Roman" panose="02020603050405020304" charset="0"/>
                <a:cs typeface="Times New Roman" panose="02020603050405020304" charset="0"/>
              </a:rPr>
              <a:t>System</a:t>
            </a:r>
            <a:r>
              <a:rPr lang="en-US" sz="2200" dirty="0">
                <a:latin typeface="Times New Roman" panose="02020603050405020304" charset="0"/>
                <a:cs typeface="Times New Roman" panose="02020603050405020304" charset="0"/>
              </a:rPr>
              <a:t>	                         </a:t>
            </a:r>
            <a:r>
              <a:rPr lang="en-GB" sz="2200" dirty="0">
                <a:latin typeface="Times New Roman" panose="02020603050405020304" charset="0"/>
                <a:cs typeface="Times New Roman" panose="02020603050405020304" charset="0"/>
              </a:rPr>
              <a:t>:   Intel i7</a:t>
            </a:r>
            <a:endParaRPr lang="en-US" sz="2200" dirty="0">
              <a:latin typeface="Times New Roman" panose="02020603050405020304" charset="0"/>
              <a:cs typeface="Times New Roman" panose="02020603050405020304" charset="0"/>
            </a:endParaRPr>
          </a:p>
          <a:p>
            <a:pPr marL="0" lvl="0" indent="0" eaLnBrk="0" fontAlgn="base" hangingPunct="0">
              <a:lnSpc>
                <a:spcPct val="160000"/>
              </a:lnSpc>
              <a:spcBef>
                <a:spcPct val="0"/>
              </a:spcBef>
              <a:spcAft>
                <a:spcPct val="0"/>
              </a:spcAft>
              <a:buFontTx/>
              <a:buChar char="•"/>
            </a:pPr>
            <a:r>
              <a:rPr lang="en-GB" sz="2200" b="1" dirty="0">
                <a:latin typeface="Times New Roman" panose="02020603050405020304" charset="0"/>
                <a:cs typeface="Times New Roman" panose="02020603050405020304" charset="0"/>
              </a:rPr>
              <a:t>Hard Disk</a:t>
            </a:r>
            <a:r>
              <a:rPr lang="en-US" sz="2200" dirty="0">
                <a:latin typeface="Times New Roman" panose="02020603050405020304" charset="0"/>
                <a:cs typeface="Times New Roman" panose="02020603050405020304" charset="0"/>
              </a:rPr>
              <a:t>	                         </a:t>
            </a:r>
            <a:r>
              <a:rPr lang="en-GB" sz="2200" dirty="0">
                <a:latin typeface="Times New Roman" panose="02020603050405020304" charset="0"/>
                <a:cs typeface="Times New Roman" panose="02020603050405020304" charset="0"/>
              </a:rPr>
              <a:t>:   1 TB.</a:t>
            </a:r>
            <a:endParaRPr lang="en-US" sz="2200" dirty="0">
              <a:latin typeface="Times New Roman" panose="02020603050405020304" charset="0"/>
              <a:cs typeface="Times New Roman" panose="02020603050405020304" charset="0"/>
            </a:endParaRPr>
          </a:p>
          <a:p>
            <a:pPr marL="0" lvl="0" indent="0" eaLnBrk="0" fontAlgn="base" hangingPunct="0">
              <a:lnSpc>
                <a:spcPct val="160000"/>
              </a:lnSpc>
              <a:spcBef>
                <a:spcPct val="0"/>
              </a:spcBef>
              <a:spcAft>
                <a:spcPct val="0"/>
              </a:spcAft>
              <a:buFontTx/>
              <a:buChar char="•"/>
            </a:pPr>
            <a:r>
              <a:rPr lang="en-GB" sz="2200" b="1" dirty="0">
                <a:latin typeface="Times New Roman" panose="02020603050405020304" charset="0"/>
                <a:cs typeface="Times New Roman" panose="02020603050405020304" charset="0"/>
              </a:rPr>
              <a:t>Monito</a:t>
            </a:r>
            <a:r>
              <a:rPr lang="en-US" sz="2200" b="1" dirty="0">
                <a:latin typeface="Times New Roman" panose="02020603050405020304" charset="0"/>
                <a:cs typeface="Times New Roman" panose="02020603050405020304" charset="0"/>
              </a:rPr>
              <a:t>r</a:t>
            </a:r>
            <a:r>
              <a:rPr lang="en-US" sz="2200" dirty="0">
                <a:latin typeface="Times New Roman" panose="02020603050405020304" charset="0"/>
                <a:cs typeface="Times New Roman" panose="02020603050405020304" charset="0"/>
              </a:rPr>
              <a:t>	                         </a:t>
            </a:r>
            <a:r>
              <a:rPr lang="en-GB" sz="2200" dirty="0">
                <a:latin typeface="Times New Roman" panose="02020603050405020304" charset="0"/>
                <a:cs typeface="Times New Roman" panose="02020603050405020304" charset="0"/>
              </a:rPr>
              <a:t>:   14’ Colour Monitor.</a:t>
            </a:r>
            <a:endParaRPr lang="en-US" sz="2200" dirty="0">
              <a:latin typeface="Times New Roman" panose="02020603050405020304" charset="0"/>
              <a:cs typeface="Times New Roman" panose="02020603050405020304" charset="0"/>
            </a:endParaRPr>
          </a:p>
          <a:p>
            <a:pPr marL="0" lvl="0" indent="0" eaLnBrk="0" fontAlgn="base" hangingPunct="0">
              <a:lnSpc>
                <a:spcPct val="160000"/>
              </a:lnSpc>
              <a:spcBef>
                <a:spcPct val="0"/>
              </a:spcBef>
              <a:spcAft>
                <a:spcPct val="0"/>
              </a:spcAft>
              <a:buFontTx/>
              <a:buChar char="•"/>
            </a:pPr>
            <a:r>
              <a:rPr lang="en-GB" sz="2200" b="1" dirty="0">
                <a:latin typeface="Times New Roman" panose="02020603050405020304" charset="0"/>
                <a:cs typeface="Times New Roman" panose="02020603050405020304" charset="0"/>
              </a:rPr>
              <a:t>Mouse</a:t>
            </a:r>
            <a:r>
              <a:rPr lang="en-US" sz="2200" dirty="0">
                <a:latin typeface="Times New Roman" panose="02020603050405020304" charset="0"/>
                <a:cs typeface="Times New Roman" panose="02020603050405020304" charset="0"/>
              </a:rPr>
              <a:t>		                         </a:t>
            </a:r>
            <a:r>
              <a:rPr lang="en-GB" sz="2200" dirty="0">
                <a:latin typeface="Times New Roman" panose="02020603050405020304" charset="0"/>
                <a:cs typeface="Times New Roman" panose="02020603050405020304" charset="0"/>
              </a:rPr>
              <a:t>:   Optical Mouse.</a:t>
            </a:r>
            <a:endParaRPr lang="en-US" sz="2200" dirty="0">
              <a:latin typeface="Times New Roman" panose="02020603050405020304" charset="0"/>
              <a:cs typeface="Times New Roman" panose="02020603050405020304" charset="0"/>
            </a:endParaRPr>
          </a:p>
          <a:p>
            <a:pPr marL="0" lvl="0" indent="0" eaLnBrk="0" fontAlgn="base" hangingPunct="0">
              <a:lnSpc>
                <a:spcPct val="160000"/>
              </a:lnSpc>
              <a:spcBef>
                <a:spcPct val="0"/>
              </a:spcBef>
              <a:spcAft>
                <a:spcPct val="0"/>
              </a:spcAft>
              <a:buFontTx/>
              <a:buChar char="•"/>
            </a:pPr>
            <a:r>
              <a:rPr lang="en-GB" sz="2200" b="1" dirty="0">
                <a:latin typeface="Times New Roman" panose="02020603050405020304" charset="0"/>
                <a:cs typeface="Times New Roman" panose="02020603050405020304" charset="0"/>
              </a:rPr>
              <a:t>Ram</a:t>
            </a:r>
            <a:r>
              <a:rPr lang="en-US" sz="2200" dirty="0">
                <a:latin typeface="Times New Roman" panose="02020603050405020304" charset="0"/>
                <a:cs typeface="Times New Roman" panose="02020603050405020304" charset="0"/>
              </a:rPr>
              <a:t>		                         </a:t>
            </a:r>
            <a:r>
              <a:rPr lang="en-GB" sz="2200" dirty="0">
                <a:latin typeface="Times New Roman" panose="02020603050405020304" charset="0"/>
                <a:cs typeface="Times New Roman" panose="02020603050405020304" charset="0"/>
              </a:rPr>
              <a:t>:   8GB.</a:t>
            </a:r>
            <a:endParaRPr lang="en-US" sz="2200" dirty="0">
              <a:latin typeface="Times New Roman" panose="02020603050405020304" charset="0"/>
              <a:cs typeface="Times New Roman" panose="02020603050405020304" charset="0"/>
            </a:endParaRPr>
          </a:p>
          <a:p>
            <a:pPr marL="0" indent="0" eaLnBrk="0" fontAlgn="base" hangingPunct="0">
              <a:lnSpc>
                <a:spcPct val="160000"/>
              </a:lnSpc>
              <a:spcBef>
                <a:spcPct val="0"/>
              </a:spcBef>
              <a:spcAft>
                <a:spcPct val="0"/>
              </a:spcAft>
              <a:buNone/>
            </a:pPr>
            <a:r>
              <a:rPr lang="en-US" sz="2200" b="1" dirty="0">
                <a:latin typeface="Times New Roman" panose="02020603050405020304" charset="0"/>
                <a:cs typeface="Times New Roman" panose="02020603050405020304" charset="0"/>
              </a:rPr>
              <a:t>SOFTWARE REQUIREMENTS</a:t>
            </a:r>
          </a:p>
          <a:p>
            <a:pPr marL="0" lvl="0" indent="0" eaLnBrk="0" fontAlgn="base" hangingPunct="0">
              <a:lnSpc>
                <a:spcPct val="160000"/>
              </a:lnSpc>
              <a:spcBef>
                <a:spcPct val="0"/>
              </a:spcBef>
              <a:spcAft>
                <a:spcPct val="0"/>
              </a:spcAft>
              <a:buFontTx/>
              <a:buChar char="•"/>
            </a:pPr>
            <a:r>
              <a:rPr lang="en-US" sz="2200" b="1" dirty="0">
                <a:latin typeface="Times New Roman" panose="02020603050405020304" charset="0"/>
                <a:cs typeface="Times New Roman" panose="02020603050405020304" charset="0"/>
              </a:rPr>
              <a:t>Operating system </a:t>
            </a:r>
            <a:r>
              <a:rPr lang="en-US" sz="2200" dirty="0">
                <a:latin typeface="Times New Roman" panose="02020603050405020304" charset="0"/>
                <a:cs typeface="Times New Roman" panose="02020603050405020304" charset="0"/>
              </a:rPr>
              <a:t>	             :   Windows 10.</a:t>
            </a:r>
          </a:p>
          <a:p>
            <a:pPr marL="0" lvl="0" indent="0" eaLnBrk="0" fontAlgn="base" hangingPunct="0">
              <a:lnSpc>
                <a:spcPct val="160000"/>
              </a:lnSpc>
              <a:spcBef>
                <a:spcPct val="0"/>
              </a:spcBef>
              <a:spcAft>
                <a:spcPct val="0"/>
              </a:spcAft>
              <a:buFontTx/>
              <a:buChar char="•"/>
            </a:pPr>
            <a:r>
              <a:rPr lang="en-US" sz="2200" b="1" dirty="0">
                <a:latin typeface="Times New Roman" panose="02020603050405020304" charset="0"/>
                <a:cs typeface="Times New Roman" panose="02020603050405020304" charset="0"/>
              </a:rPr>
              <a:t>Coding Language</a:t>
            </a:r>
            <a:r>
              <a:rPr lang="en-US" sz="2200" dirty="0">
                <a:latin typeface="Times New Roman" panose="02020603050405020304" charset="0"/>
                <a:cs typeface="Times New Roman" panose="02020603050405020304" charset="0"/>
              </a:rPr>
              <a:t>	             :   Python.</a:t>
            </a:r>
          </a:p>
          <a:p>
            <a:pPr marL="0" lvl="0" indent="0" eaLnBrk="0" fontAlgn="base" hangingPunct="0">
              <a:lnSpc>
                <a:spcPct val="160000"/>
              </a:lnSpc>
              <a:spcBef>
                <a:spcPct val="0"/>
              </a:spcBef>
              <a:spcAft>
                <a:spcPct val="0"/>
              </a:spcAft>
              <a:buFontTx/>
              <a:buChar char="•"/>
            </a:pPr>
            <a:r>
              <a:rPr lang="en-US" sz="2200" b="1" dirty="0">
                <a:latin typeface="Times New Roman" panose="02020603050405020304" charset="0"/>
                <a:cs typeface="Times New Roman" panose="02020603050405020304" charset="0"/>
              </a:rPr>
              <a:t>Front-End</a:t>
            </a:r>
            <a:r>
              <a:rPr lang="en-US" sz="2200" dirty="0">
                <a:latin typeface="Times New Roman" panose="02020603050405020304" charset="0"/>
                <a:cs typeface="Times New Roman" panose="02020603050405020304" charset="0"/>
              </a:rPr>
              <a:t>		             :   Html. CSS</a:t>
            </a:r>
          </a:p>
          <a:p>
            <a:pPr marL="0" lvl="0" indent="0" eaLnBrk="0" fontAlgn="base" hangingPunct="0">
              <a:lnSpc>
                <a:spcPct val="160000"/>
              </a:lnSpc>
              <a:spcBef>
                <a:spcPct val="0"/>
              </a:spcBef>
              <a:spcAft>
                <a:spcPct val="0"/>
              </a:spcAft>
              <a:buFontTx/>
              <a:buChar char="•"/>
            </a:pPr>
            <a:r>
              <a:rPr lang="en-US" sz="2200" b="1" dirty="0">
                <a:latin typeface="Times New Roman" panose="02020603050405020304" charset="0"/>
                <a:cs typeface="Times New Roman" panose="02020603050405020304" charset="0"/>
              </a:rPr>
              <a:t>Designing</a:t>
            </a:r>
            <a:r>
              <a:rPr lang="en-US" sz="2200" dirty="0">
                <a:latin typeface="Times New Roman" panose="02020603050405020304" charset="0"/>
                <a:cs typeface="Times New Roman" panose="02020603050405020304" charset="0"/>
              </a:rPr>
              <a:t>		             :   </a:t>
            </a:r>
            <a:r>
              <a:rPr lang="en-US" sz="2200" dirty="0" err="1">
                <a:latin typeface="Times New Roman" panose="02020603050405020304" charset="0"/>
                <a:cs typeface="Times New Roman" panose="02020603050405020304" charset="0"/>
              </a:rPr>
              <a:t>Html,css,javascript</a:t>
            </a:r>
            <a:r>
              <a:rPr lang="en-US" sz="2200" dirty="0">
                <a:latin typeface="Times New Roman" panose="02020603050405020304" charset="0"/>
                <a:cs typeface="Times New Roman" panose="02020603050405020304" charset="0"/>
              </a:rPr>
              <a:t>.</a:t>
            </a:r>
          </a:p>
          <a:p>
            <a:pPr marL="0" lvl="0" indent="0" eaLnBrk="0" fontAlgn="base" hangingPunct="0">
              <a:lnSpc>
                <a:spcPct val="160000"/>
              </a:lnSpc>
              <a:spcBef>
                <a:spcPct val="0"/>
              </a:spcBef>
              <a:spcAft>
                <a:spcPct val="0"/>
              </a:spcAft>
              <a:buFontTx/>
              <a:buChar char="•"/>
            </a:pPr>
            <a:r>
              <a:rPr lang="en-US" sz="2200" b="1" dirty="0">
                <a:latin typeface="Times New Roman" panose="02020603050405020304" charset="0"/>
                <a:cs typeface="Times New Roman" panose="02020603050405020304" charset="0"/>
              </a:rPr>
              <a:t>Data Base</a:t>
            </a:r>
            <a:r>
              <a:rPr lang="en-US" sz="2200" dirty="0">
                <a:latin typeface="Times New Roman" panose="02020603050405020304" charset="0"/>
                <a:cs typeface="Times New Roman" panose="02020603050405020304" charset="0"/>
              </a:rPr>
              <a:t>		              :   SQLite.</a:t>
            </a:r>
          </a:p>
          <a:p>
            <a:pPr marL="0" indent="0" algn="just">
              <a:buNone/>
            </a:pPr>
            <a:endParaRPr lang="en-US" altLang="en-US" sz="2000" dirty="0">
              <a:latin typeface="Times New Roman" panose="02020603050405020304" charset="0"/>
              <a:cs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32985"/>
            <a:ext cx="10515600" cy="1325563"/>
          </a:xfrm>
        </p:spPr>
        <p:txBody>
          <a:bodyPr/>
          <a:lstStyle/>
          <a:p>
            <a:pPr algn="ctr"/>
            <a:r>
              <a:rPr lang="en-IN" altLang="en-US" sz="2800" b="1" dirty="0">
                <a:latin typeface="Times New Roman" panose="02020603050405020304" charset="0"/>
                <a:cs typeface="Times New Roman" panose="02020603050405020304" charset="0"/>
                <a:sym typeface="+mn-ea"/>
              </a:rPr>
              <a:t>ARCHITECTURE </a:t>
            </a:r>
            <a:endParaRPr lang="en-US" sz="2800" dirty="0"/>
          </a:p>
        </p:txBody>
      </p:sp>
      <p:sp>
        <p:nvSpPr>
          <p:cNvPr id="4" name="Rectangle 1">
            <a:extLst>
              <a:ext uri="{FF2B5EF4-FFF2-40B4-BE49-F238E27FC236}">
                <a16:creationId xmlns:a16="http://schemas.microsoft.com/office/drawing/2014/main" id="{C14623D9-1A1E-C850-E72C-D52AF370137F}"/>
              </a:ext>
            </a:extLst>
          </p:cNvPr>
          <p:cNvSpPr>
            <a:spLocks noChangeArrowheads="1"/>
          </p:cNvSpPr>
          <p:nvPr/>
        </p:nvSpPr>
        <p:spPr bwMode="auto">
          <a:xfrm>
            <a:off x="213359" y="771476"/>
            <a:ext cx="11765281" cy="6012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fontAlgn="base">
              <a:lnSpc>
                <a:spcPct val="15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The system follows a three-tier architecture: Presentation Layer, Application Layer, and Data Layer.</a:t>
            </a:r>
          </a:p>
          <a:p>
            <a:pPr marL="0" marR="0" lvl="0" indent="0" algn="just" fontAlgn="base">
              <a:lnSpc>
                <a:spcPct val="150000"/>
              </a:lnSpc>
              <a:spcBef>
                <a:spcPts val="1000"/>
              </a:spcBef>
              <a:spcAft>
                <a:spcPct val="0"/>
              </a:spcAft>
              <a:buClrTx/>
              <a:buSzTx/>
              <a:tabLst/>
            </a:pPr>
            <a:r>
              <a:rPr lang="en-US" altLang="en-US" sz="2000" dirty="0">
                <a:latin typeface="Times New Roman" panose="02020603050405020304" charset="0"/>
                <a:cs typeface="Times New Roman" panose="02020603050405020304" charset="0"/>
              </a:rPr>
              <a:t>The Presentation Layer handles user interaction and delivers a user-friendly interface.</a:t>
            </a:r>
          </a:p>
          <a:p>
            <a:pPr marL="0" marR="0" lvl="0" indent="0" algn="just" fontAlgn="base">
              <a:lnSpc>
                <a:spcPct val="150000"/>
              </a:lnSpc>
              <a:spcBef>
                <a:spcPts val="1000"/>
              </a:spcBef>
              <a:spcAft>
                <a:spcPct val="0"/>
              </a:spcAft>
              <a:buClrTx/>
              <a:buSzTx/>
              <a:tabLst/>
            </a:pPr>
            <a:r>
              <a:rPr lang="en-US" altLang="en-US" sz="2000" dirty="0">
                <a:latin typeface="Times New Roman" panose="02020603050405020304" charset="0"/>
                <a:cs typeface="Times New Roman" panose="02020603050405020304" charset="0"/>
              </a:rPr>
              <a:t>The Application Layer manages the core logic, processing user inputs, managing sessions, and coordinating between layers.</a:t>
            </a:r>
          </a:p>
          <a:p>
            <a:pPr marL="0" marR="0" lvl="0" indent="0" algn="just" fontAlgn="base">
              <a:lnSpc>
                <a:spcPct val="150000"/>
              </a:lnSpc>
              <a:spcBef>
                <a:spcPts val="1000"/>
              </a:spcBef>
              <a:spcAft>
                <a:spcPct val="0"/>
              </a:spcAft>
              <a:buClrTx/>
              <a:buSzTx/>
              <a:tabLst/>
            </a:pPr>
            <a:r>
              <a:rPr lang="en-US" altLang="en-US" sz="2000" dirty="0">
                <a:latin typeface="Times New Roman" panose="02020603050405020304" charset="0"/>
                <a:cs typeface="Times New Roman" panose="02020603050405020304" charset="0"/>
              </a:rPr>
              <a:t>The Data Layer is responsible for secure data storage, retrieval, and integrity through a structured database.</a:t>
            </a:r>
          </a:p>
          <a:p>
            <a:pPr marL="0" marR="0" lvl="0" indent="0" algn="just" fontAlgn="base">
              <a:lnSpc>
                <a:spcPct val="15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This layered approach ensures modularity, scalability, and ease of maintenance.</a:t>
            </a:r>
          </a:p>
          <a:p>
            <a:pPr marL="0" marR="0" lvl="0" indent="0" algn="just" fontAlgn="base">
              <a:lnSpc>
                <a:spcPct val="15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It enhances security by separating user interfaces from business logic and data management.</a:t>
            </a:r>
          </a:p>
          <a:p>
            <a:pPr marL="0" marR="0" lvl="0" indent="0" algn="just" fontAlgn="base">
              <a:lnSpc>
                <a:spcPct val="15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Each tier can be developed, tested, and updated independently, supporting flexible deployment and efficient debugging.</a:t>
            </a:r>
          </a:p>
          <a:p>
            <a:pPr marL="0" marR="0" lvl="0" indent="0" algn="just" fontAlgn="base">
              <a:lnSpc>
                <a:spcPct val="150000"/>
              </a:lnSpc>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The architecture supports real-time monitoring and reporting on user progress, assessments, and security behavior.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dirty="0">
                <a:latin typeface="Times New Roman" panose="02020603050405020304" charset="0"/>
                <a:cs typeface="Times New Roman" panose="02020603050405020304" charset="0"/>
                <a:sym typeface="+mn-ea"/>
              </a:rPr>
              <a:t>MODULES </a:t>
            </a:r>
            <a:endParaRPr lang="en-US" sz="28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a:bodyPr>
          <a:lstStyle/>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User Module: Personalized learning with dashboards, quizzes, and gamification.</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Admin Module: Manages users, tracks progress and handles phishing tests.</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Training Module: AI-powered, real-time, hands-on cybersecurity content.</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Input Design: Simple, secure data entry with validation checks.</a:t>
            </a:r>
          </a:p>
          <a:p>
            <a:pPr marL="0" lv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Output Design: Clear reports and visuals for user progress and admin insights.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
            <a:ext cx="10515600" cy="1325563"/>
          </a:xfrm>
        </p:spPr>
        <p:txBody>
          <a:bodyPr/>
          <a:lstStyle/>
          <a:p>
            <a:pPr algn="ctr"/>
            <a:r>
              <a:rPr lang="en-IN" altLang="en-US" sz="2800" b="1" dirty="0">
                <a:latin typeface="Times New Roman" panose="02020603050405020304" charset="0"/>
                <a:cs typeface="Times New Roman" panose="02020603050405020304" charset="0"/>
                <a:sym typeface="+mn-ea"/>
              </a:rPr>
              <a:t>ARCHITECTURE DIAGRAM</a:t>
            </a:r>
            <a:endParaRPr lang="en-US" sz="2800" dirty="0"/>
          </a:p>
        </p:txBody>
      </p:sp>
      <p:sp>
        <p:nvSpPr>
          <p:cNvPr id="3" name="Rectangle 1">
            <a:extLst>
              <a:ext uri="{FF2B5EF4-FFF2-40B4-BE49-F238E27FC236}">
                <a16:creationId xmlns:a16="http://schemas.microsoft.com/office/drawing/2014/main" id="{BAF721F8-47C2-528C-C4EA-7D2985F27AFE}"/>
              </a:ext>
            </a:extLst>
          </p:cNvPr>
          <p:cNvSpPr>
            <a:spLocks noChangeArrowheads="1"/>
          </p:cNvSpPr>
          <p:nvPr/>
        </p:nvSpPr>
        <p:spPr bwMode="auto">
          <a:xfrm>
            <a:off x="99386" y="977482"/>
            <a:ext cx="4532010"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charset="0"/>
                <a:cs typeface="Times New Roman" panose="02020603050405020304" charset="0"/>
              </a:rPr>
              <a:t>Workflow of the System:</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lang="en-US" altLang="en-US" dirty="0">
                <a:latin typeface="Times New Roman" panose="02020603050405020304" charset="0"/>
                <a:cs typeface="Times New Roman" panose="02020603050405020304" charset="0"/>
              </a:rPr>
              <a:t>Collect learner data.</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lang="en-US" altLang="en-US" dirty="0">
                <a:latin typeface="Times New Roman" panose="02020603050405020304" charset="0"/>
                <a:cs typeface="Times New Roman" panose="02020603050405020304" charset="0"/>
              </a:rPr>
              <a:t>AI analyzes skill gaps.</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lang="en-US" altLang="en-US" dirty="0">
                <a:latin typeface="Times New Roman" panose="02020603050405020304" charset="0"/>
                <a:cs typeface="Times New Roman" panose="02020603050405020304" charset="0"/>
              </a:rPr>
              <a:t>Generate personalized content.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lang="en-US" altLang="en-US" dirty="0">
                <a:latin typeface="Times New Roman" panose="02020603050405020304" charset="0"/>
                <a:cs typeface="Times New Roman" panose="02020603050405020304" charset="0"/>
              </a:rPr>
              <a:t>Learners' complete modules and assessments.</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lang="en-US" altLang="en-US" dirty="0">
                <a:latin typeface="Times New Roman" panose="02020603050405020304" charset="0"/>
                <a:cs typeface="Times New Roman" panose="02020603050405020304" charset="0"/>
              </a:rPr>
              <a:t>AI monitors and adjusts training.</a:t>
            </a:r>
          </a:p>
          <a:p>
            <a:pPr marL="0" marR="0" lvl="0" indent="0" algn="l" defTabSz="914400" rtl="0" eaLnBrk="0" fontAlgn="base" latinLnBrk="0" hangingPunct="0">
              <a:lnSpc>
                <a:spcPct val="150000"/>
              </a:lnSpc>
              <a:spcBef>
                <a:spcPct val="0"/>
              </a:spcBef>
              <a:spcAft>
                <a:spcPct val="0"/>
              </a:spcAft>
              <a:buClrTx/>
              <a:buSzTx/>
              <a:buFontTx/>
              <a:buAutoNum type="arabicPeriod" startAt="6"/>
              <a:tabLst/>
            </a:pPr>
            <a:r>
              <a:rPr lang="en-US" altLang="en-US" dirty="0">
                <a:latin typeface="Times New Roman" panose="02020603050405020304" charset="0"/>
                <a:cs typeface="Times New Roman" panose="02020603050405020304" charset="0"/>
              </a:rPr>
              <a:t>Final evaluation and report generation.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4930BB17-0F4C-3E31-AF44-5691D004B156}"/>
              </a:ext>
            </a:extLst>
          </p:cNvPr>
          <p:cNvSpPr>
            <a:spLocks noChangeArrowheads="1"/>
          </p:cNvSpPr>
          <p:nvPr/>
        </p:nvSpPr>
        <p:spPr bwMode="auto">
          <a:xfrm>
            <a:off x="99386" y="3879825"/>
            <a:ext cx="4910319"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eaLnBrk="0" fontAlgn="base" hangingPunct="0">
              <a:lnSpc>
                <a:spcPct val="150000"/>
              </a:lnSpc>
              <a:spcBef>
                <a:spcPct val="0"/>
              </a:spcBef>
              <a:spcAft>
                <a:spcPct val="0"/>
              </a:spcAft>
              <a:buClrTx/>
              <a:buSzTx/>
              <a:tabLst/>
            </a:pPr>
            <a:r>
              <a:rPr lang="en-US" altLang="en-US" dirty="0">
                <a:latin typeface="Times New Roman" panose="02020603050405020304" charset="0"/>
                <a:cs typeface="Times New Roman" panose="02020603050405020304" charset="0"/>
              </a:rPr>
              <a:t>Layers of the System:</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Data Collection: Gathers learner data.</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AI Analysis: Assesses and personalizes.</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Content Generation: Creates relevant training.</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User Interface: Displays </a:t>
            </a:r>
            <a:r>
              <a:rPr lang="en-US" altLang="en-US" dirty="0" err="1">
                <a:latin typeface="Times New Roman" panose="02020603050405020304" charset="0"/>
                <a:cs typeface="Times New Roman" panose="02020603050405020304" charset="0"/>
              </a:rPr>
              <a:t>lerning</a:t>
            </a:r>
            <a:r>
              <a:rPr lang="en-US" altLang="en-US" dirty="0">
                <a:latin typeface="Times New Roman" panose="02020603050405020304" charset="0"/>
                <a:cs typeface="Times New Roman" panose="02020603050405020304" charset="0"/>
              </a:rPr>
              <a:t> materials.</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Monitoring: Tracks progress and adjusts.</a:t>
            </a:r>
          </a:p>
          <a:p>
            <a:pPr marL="457200" marR="0" indent="-457200" eaLnBrk="0" fontAlgn="base" hangingPunct="0">
              <a:lnSpc>
                <a:spcPct val="150000"/>
              </a:lnSpc>
              <a:spcBef>
                <a:spcPct val="0"/>
              </a:spcBef>
              <a:spcAft>
                <a:spcPct val="0"/>
              </a:spcAft>
              <a:buClrTx/>
              <a:buSzTx/>
              <a:buFont typeface="+mj-lt"/>
              <a:buAutoNum type="arabicPeriod"/>
              <a:tabLst/>
            </a:pPr>
            <a:r>
              <a:rPr lang="en-US" altLang="en-US" dirty="0">
                <a:latin typeface="Times New Roman" panose="02020603050405020304" charset="0"/>
                <a:cs typeface="Times New Roman" panose="02020603050405020304" charset="0"/>
              </a:rPr>
              <a:t>Reporting: Generates performance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image2.jpeg" descr="A diagram of a diagram&#10;&#10;AI-generated content may be incorrect.">
            <a:extLst>
              <a:ext uri="{FF2B5EF4-FFF2-40B4-BE49-F238E27FC236}">
                <a16:creationId xmlns:a16="http://schemas.microsoft.com/office/drawing/2014/main" id="{5DF3F87D-2198-7C88-730C-5FE97632BC61}"/>
              </a:ext>
            </a:extLst>
          </p:cNvPr>
          <p:cNvPicPr>
            <a:picLocks noGrp="1" noChangeAspect="1"/>
          </p:cNvPicPr>
          <p:nvPr>
            <p:ph sz="half" idx="2"/>
          </p:nvPr>
        </p:nvPicPr>
        <p:blipFill>
          <a:blip r:embed="rId2" cstate="print"/>
          <a:stretch>
            <a:fillRect/>
          </a:stretch>
        </p:blipFill>
        <p:spPr>
          <a:xfrm>
            <a:off x="5923280" y="1988671"/>
            <a:ext cx="5885434" cy="34050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a:latin typeface="Times New Roman" panose="02020603050405020304" charset="0"/>
                <a:cs typeface="Times New Roman" panose="02020603050405020304" charset="0"/>
                <a:sym typeface="+mn-ea"/>
              </a:rPr>
              <a:t>UML DIAGRAM </a:t>
            </a:r>
            <a:endParaRPr lang="en-US" sz="2800"/>
          </a:p>
        </p:txBody>
      </p:sp>
      <p:sp>
        <p:nvSpPr>
          <p:cNvPr id="3" name="Content Placeholder 2"/>
          <p:cNvSpPr>
            <a:spLocks noGrp="1"/>
          </p:cNvSpPr>
          <p:nvPr>
            <p:ph sz="half" idx="1"/>
          </p:nvPr>
        </p:nvSpPr>
        <p:spPr>
          <a:xfrm>
            <a:off x="838200" y="1530350"/>
            <a:ext cx="5181600" cy="4646930"/>
          </a:xfrm>
        </p:spPr>
        <p:txBody>
          <a:bodyPr>
            <a:normAutofit/>
          </a:bodyPr>
          <a:lstStyle/>
          <a:p>
            <a:r>
              <a:rPr lang="en-US" b="1" dirty="0"/>
              <a:t> </a:t>
            </a:r>
            <a:r>
              <a:rPr lang="en-US" sz="2200" dirty="0">
                <a:latin typeface="Times New Roman" panose="02020603050405020304" charset="0"/>
                <a:cs typeface="Times New Roman" panose="02020603050405020304" charset="0"/>
              </a:rPr>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p>
          <a:p>
            <a:pPr algn="just"/>
            <a:endParaRPr lang="en-US" altLang="en-US" sz="2000" dirty="0">
              <a:latin typeface="Times New Roman" panose="02020603050405020304" charset="0"/>
              <a:cs typeface="Times New Roman" panose="02020603050405020304" charset="0"/>
            </a:endParaRPr>
          </a:p>
        </p:txBody>
      </p:sp>
      <p:pic>
        <p:nvPicPr>
          <p:cNvPr id="7" name="Content Placeholder 6" descr="A diagram of a software system&#10;&#10;AI-generated content may be incorrect.">
            <a:extLst>
              <a:ext uri="{FF2B5EF4-FFF2-40B4-BE49-F238E27FC236}">
                <a16:creationId xmlns:a16="http://schemas.microsoft.com/office/drawing/2014/main" id="{2494EEBA-754D-2160-89B6-739B399D462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599715" y="833643"/>
            <a:ext cx="2862943" cy="558280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a:latin typeface="Times New Roman" panose="02020603050405020304" charset="0"/>
                <a:cs typeface="Times New Roman" panose="02020603050405020304" charset="0"/>
                <a:sym typeface="+mn-ea"/>
              </a:rPr>
              <a:t>TYPE OF TESTING </a:t>
            </a:r>
            <a:endParaRPr lang="en-US" sz="2800"/>
          </a:p>
        </p:txBody>
      </p:sp>
      <p:sp>
        <p:nvSpPr>
          <p:cNvPr id="4" name="Rectangle 1">
            <a:extLst>
              <a:ext uri="{FF2B5EF4-FFF2-40B4-BE49-F238E27FC236}">
                <a16:creationId xmlns:a16="http://schemas.microsoft.com/office/drawing/2014/main" id="{08C9C904-5260-E584-D212-45749507C0A9}"/>
              </a:ext>
            </a:extLst>
          </p:cNvPr>
          <p:cNvSpPr>
            <a:spLocks noChangeArrowheads="1"/>
          </p:cNvSpPr>
          <p:nvPr/>
        </p:nvSpPr>
        <p:spPr bwMode="auto">
          <a:xfrm>
            <a:off x="506301" y="1396168"/>
            <a:ext cx="1122849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Unit Testing: Checks individual software units for correct logic and outputs before integration.</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Integration Testing: Verifies combined components work together without interface errors.</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Functional Testing: Ensures software functions as per business and technical requirements.</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System Testing: Validates the complete, integrated system’s behavior and performance.</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White Box Testing: Testing with knowledge of internal code structure and logic.</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Black Box Testing: Testing without any knowledge of internal workings, based only on inputs and outputs.</a:t>
            </a:r>
          </a:p>
          <a:p>
            <a:pPr marL="228600" marR="0" lvl="0" indent="-228600" algn="just" fontAlgn="base">
              <a:spcBef>
                <a:spcPts val="1000"/>
              </a:spcBef>
              <a:spcAft>
                <a:spcPct val="0"/>
              </a:spcAft>
              <a:buClrTx/>
              <a:buSzTx/>
              <a:buFont typeface="Arial" panose="020B0604020202020204" pitchFamily="34" charset="0"/>
              <a:buChar char="•"/>
              <a:tabLst/>
            </a:pPr>
            <a:r>
              <a:rPr lang="en-US" altLang="en-US" sz="2000" dirty="0">
                <a:latin typeface="Times New Roman" panose="02020603050405020304" charset="0"/>
                <a:cs typeface="Times New Roman" panose="02020603050405020304" charset="0"/>
              </a:rPr>
              <a:t>Acceptance Testing: Final testing by users to confirm system meets their requirements.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dirty="0">
                <a:latin typeface="Times New Roman" panose="02020603050405020304" charset="0"/>
                <a:cs typeface="Times New Roman" panose="02020603050405020304" charset="0"/>
                <a:sym typeface="+mn-ea"/>
              </a:rPr>
              <a:t>FUTURE SCOPE </a:t>
            </a:r>
            <a:endParaRPr lang="en-US" sz="2800" dirty="0"/>
          </a:p>
        </p:txBody>
      </p:sp>
      <p:sp>
        <p:nvSpPr>
          <p:cNvPr id="4" name="Rectangle 1">
            <a:extLst>
              <a:ext uri="{FF2B5EF4-FFF2-40B4-BE49-F238E27FC236}">
                <a16:creationId xmlns:a16="http://schemas.microsoft.com/office/drawing/2014/main" id="{8DDC6913-5F79-03E4-1F1F-7FB0B835E33B}"/>
              </a:ext>
            </a:extLst>
          </p:cNvPr>
          <p:cNvSpPr>
            <a:spLocks noChangeArrowheads="1"/>
          </p:cNvSpPr>
          <p:nvPr/>
        </p:nvSpPr>
        <p:spPr bwMode="auto">
          <a:xfrm>
            <a:off x="762520" y="1848491"/>
            <a:ext cx="10666959"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AI customizes training content, pace, and modules based on individual skills and progress.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Real-time phishing simulations and behavior tracking identify vulnerabilities and risks.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AI-driven gamification boosts engagement while keeping content updated with new threats.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Micro-learning sessions make training manageable and link to real incidents for relevance.</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AI supports forums and peer learning to build a security-aware community.</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charset="0"/>
                <a:cs typeface="Times New Roman" panose="02020603050405020304" charset="0"/>
              </a:rPr>
              <a:t>Instant AI assessments give quick feedback, with training accessible on all devices, including mobile.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2800" b="1" dirty="0">
                <a:latin typeface="Times New Roman" panose="02020603050405020304" charset="0"/>
                <a:cs typeface="Times New Roman" panose="02020603050405020304" charset="0"/>
                <a:sym typeface="+mn-ea"/>
              </a:rPr>
              <a:t>CONCLUSION</a:t>
            </a:r>
            <a:endParaRPr lang="en-US" sz="2800" dirty="0"/>
          </a:p>
        </p:txBody>
      </p:sp>
      <p:sp>
        <p:nvSpPr>
          <p:cNvPr id="4" name="Rectangle 1">
            <a:extLst>
              <a:ext uri="{FF2B5EF4-FFF2-40B4-BE49-F238E27FC236}">
                <a16:creationId xmlns:a16="http://schemas.microsoft.com/office/drawing/2014/main" id="{E8F0AE96-81A3-CD84-4D29-65BBF37CEE6C}"/>
              </a:ext>
            </a:extLst>
          </p:cNvPr>
          <p:cNvSpPr>
            <a:spLocks noGrp="1" noChangeArrowheads="1"/>
          </p:cNvSpPr>
          <p:nvPr>
            <p:ph sz="half" idx="1"/>
          </p:nvPr>
        </p:nvSpPr>
        <p:spPr bwMode="auto">
          <a:xfrm>
            <a:off x="340361" y="1594808"/>
            <a:ext cx="11170920"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Organizations invest significant time and effort in creating security training, policies, and procedures.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Poorly developed materials can lead to security vulnerabilities.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AI serves as an effective tool to generate and maintain high-quality, up-to-date training and plans.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AI helps periodically revise and align training with newly published security frameworks.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This project uses AI-driven APIs to create cybersecurity awareness and training tailored to learners’ skills and target proficiency levels.</a:t>
            </a:r>
          </a:p>
          <a:p>
            <a:pPr marL="0" indent="0" eaLnBrk="0" fontAlgn="base" hangingPunct="0">
              <a:lnSpc>
                <a:spcPct val="150000"/>
              </a:lnSpc>
              <a:spcBef>
                <a:spcPct val="0"/>
              </a:spcBef>
              <a:spcAft>
                <a:spcPct val="0"/>
              </a:spcAft>
              <a:buFontTx/>
              <a:buChar char="•"/>
            </a:pPr>
            <a:r>
              <a:rPr lang="en-US" altLang="en-US" sz="2000" dirty="0">
                <a:latin typeface="Times New Roman" panose="02020603050405020304" charset="0"/>
                <a:cs typeface="Times New Roman" panose="02020603050405020304" charset="0"/>
              </a:rPr>
              <a:t>Generated training materials were reviewed and found to be highly effective and accurate.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9AC72A5-E9EE-7C21-E03C-FA033DBB69E1}"/>
              </a:ext>
            </a:extLst>
          </p:cNvPr>
          <p:cNvSpPr txBox="1"/>
          <p:nvPr/>
        </p:nvSpPr>
        <p:spPr>
          <a:xfrm>
            <a:off x="3048000" y="485894"/>
            <a:ext cx="6096000" cy="523220"/>
          </a:xfrm>
          <a:prstGeom prst="rect">
            <a:avLst/>
          </a:prstGeom>
          <a:noFill/>
        </p:spPr>
        <p:txBody>
          <a:bodyPr wrap="square">
            <a:spAutoFit/>
          </a:bodyPr>
          <a:lstStyle/>
          <a:p>
            <a:pPr algn="ctr"/>
            <a:r>
              <a:rPr lang="en-IN" altLang="en-US" sz="2800" b="1" dirty="0">
                <a:latin typeface="Times New Roman" panose="02020603050405020304" charset="0"/>
                <a:ea typeface="+mj-ea"/>
                <a:cs typeface="Times New Roman" panose="02020603050405020304" charset="0"/>
                <a:sym typeface="+mn-ea"/>
              </a:rPr>
              <a:t>REFERENCES</a:t>
            </a:r>
            <a:endParaRPr lang="en-US" sz="2800" b="1" dirty="0">
              <a:latin typeface="Times New Roman" panose="02020603050405020304" charset="0"/>
              <a:ea typeface="+mj-ea"/>
              <a:cs typeface="Times New Roman" panose="02020603050405020304" charset="0"/>
            </a:endParaRPr>
          </a:p>
        </p:txBody>
      </p:sp>
      <p:sp>
        <p:nvSpPr>
          <p:cNvPr id="13" name="TextBox 12">
            <a:extLst>
              <a:ext uri="{FF2B5EF4-FFF2-40B4-BE49-F238E27FC236}">
                <a16:creationId xmlns:a16="http://schemas.microsoft.com/office/drawing/2014/main" id="{3D06D0FC-FBD5-AB64-E4E4-E0D7C2091675}"/>
              </a:ext>
            </a:extLst>
          </p:cNvPr>
          <p:cNvSpPr txBox="1"/>
          <p:nvPr/>
        </p:nvSpPr>
        <p:spPr>
          <a:xfrm>
            <a:off x="589280" y="856714"/>
            <a:ext cx="9540240" cy="5865067"/>
          </a:xfrm>
          <a:prstGeom prst="rect">
            <a:avLst/>
          </a:prstGeom>
          <a:noFill/>
        </p:spPr>
        <p:txBody>
          <a:bodyPr wrap="square">
            <a:spAutoFit/>
          </a:bodyPr>
          <a:lstStyle/>
          <a:p>
            <a:pPr marL="0" marR="0">
              <a:lnSpc>
                <a:spcPct val="150000"/>
              </a:lnSpc>
              <a:buNone/>
            </a:pPr>
            <a:r>
              <a:rPr lang="en-US" sz="1200" dirty="0">
                <a:effectLst/>
                <a:latin typeface="Times New Roman" panose="02020603050405020304" pitchFamily="18" charset="0"/>
                <a:ea typeface="Times New Roman" panose="02020603050405020304" pitchFamily="18" charset="0"/>
              </a:rPr>
              <a:t> </a:t>
            </a:r>
          </a:p>
          <a:p>
            <a:pPr marL="342900" marR="0" lvl="0" indent="-342900">
              <a:lnSpc>
                <a:spcPct val="150000"/>
              </a:lnSpc>
              <a:buFont typeface="+mj-lt"/>
              <a:buAutoNum type="arabicPeriod"/>
              <a:tabLst>
                <a:tab pos="269875" algn="l"/>
              </a:tabLst>
            </a:pPr>
            <a:r>
              <a:rPr lang="en-US" sz="1600" dirty="0">
                <a:effectLst/>
                <a:latin typeface="Times New Roman" panose="02020603050405020304" pitchFamily="18" charset="0"/>
                <a:ea typeface="Times New Roman" panose="02020603050405020304" pitchFamily="18" charset="0"/>
              </a:rPr>
              <a:t>M. E. </a:t>
            </a:r>
            <a:r>
              <a:rPr lang="en-US" sz="1600" dirty="0" err="1">
                <a:effectLst/>
                <a:latin typeface="Times New Roman" panose="02020603050405020304" pitchFamily="18" charset="0"/>
                <a:ea typeface="Times New Roman" panose="02020603050405020304" pitchFamily="18" charset="0"/>
              </a:rPr>
              <a:t>Erendor</a:t>
            </a:r>
            <a:r>
              <a:rPr lang="en-US" sz="1600" dirty="0">
                <a:effectLst/>
                <a:latin typeface="Times New Roman" panose="02020603050405020304" pitchFamily="18" charset="0"/>
                <a:ea typeface="Times New Roman" panose="02020603050405020304" pitchFamily="18" charset="0"/>
              </a:rPr>
              <a:t> and M. Yildirim, "Cybersecurity Awareness in Online</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Education: A Case Study Analysis," in IEEE Access, vol. 10, pp. 52319-</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52335, 2022,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 10.1109/ACCESS.2022.3171829.</a:t>
            </a:r>
          </a:p>
          <a:p>
            <a:pPr marL="342900" marR="0" lvl="0" indent="-342900">
              <a:lnSpc>
                <a:spcPct val="150000"/>
              </a:lnSpc>
              <a:buFont typeface="+mj-lt"/>
              <a:buAutoNum type="arabicPeriod"/>
              <a:tabLst>
                <a:tab pos="269875" algn="l"/>
              </a:tabLst>
            </a:pPr>
            <a:r>
              <a:rPr lang="en-US" sz="1600" dirty="0">
                <a:effectLst/>
                <a:latin typeface="Times New Roman" panose="02020603050405020304" pitchFamily="18" charset="0"/>
                <a:ea typeface="Times New Roman" panose="02020603050405020304" pitchFamily="18" charset="0"/>
              </a:rPr>
              <a:t>R. S. Shaw, C. C. Chen, A. L. Harris, and H.-J. Huang, ‘‘The impact of</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information richness on information security awareness training</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effectiveness,’’ </a:t>
            </a:r>
            <a:r>
              <a:rPr lang="en-US" sz="1600" dirty="0" err="1">
                <a:effectLst/>
                <a:latin typeface="Times New Roman" panose="02020603050405020304" pitchFamily="18" charset="0"/>
                <a:ea typeface="Times New Roman" panose="02020603050405020304" pitchFamily="18" charset="0"/>
              </a:rPr>
              <a:t>Comput</a:t>
            </a:r>
            <a:r>
              <a:rPr lang="en-US" sz="1600" dirty="0">
                <a:effectLst/>
                <a:latin typeface="Times New Roman" panose="02020603050405020304" pitchFamily="18" charset="0"/>
                <a:ea typeface="Times New Roman" panose="02020603050405020304" pitchFamily="18" charset="0"/>
              </a:rPr>
              <a:t>. Educ., vol. 52, no. 1, pp. 92–100, Jan. 2009.</a:t>
            </a:r>
          </a:p>
          <a:p>
            <a:pPr marL="342900" marR="0" lvl="0" indent="-342900">
              <a:lnSpc>
                <a:spcPct val="150000"/>
              </a:lnSpc>
              <a:buFont typeface="+mj-lt"/>
              <a:buAutoNum type="arabicPeriod"/>
              <a:tabLst>
                <a:tab pos="269875" algn="l"/>
              </a:tabLst>
            </a:pPr>
            <a:r>
              <a:rPr lang="en-US" sz="1600" dirty="0">
                <a:effectLst/>
                <a:latin typeface="Times New Roman" panose="02020603050405020304" pitchFamily="18" charset="0"/>
                <a:ea typeface="Times New Roman" panose="02020603050405020304" pitchFamily="18" charset="0"/>
              </a:rPr>
              <a:t>A. Garba, M. Siraj, S. Othman, and M. Musa, ‘‘A study on cybersecurity</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awareness among students in Yobe State University, Nigeria: A</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quantitative approach,’’ Int. J. Emerg. Technol., vol. 11, no. 5, pp. 41–49,</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2020.</a:t>
            </a:r>
          </a:p>
          <a:p>
            <a:pPr marL="342900" marR="0" lvl="0" indent="-342900">
              <a:lnSpc>
                <a:spcPct val="150000"/>
              </a:lnSpc>
              <a:buFont typeface="+mj-lt"/>
              <a:buAutoNum type="arabicPeriod"/>
              <a:tabLst>
                <a:tab pos="269875" algn="l"/>
              </a:tabLst>
            </a:pPr>
            <a:r>
              <a:rPr lang="en-US" sz="1600" dirty="0">
                <a:effectLst/>
                <a:latin typeface="Times New Roman" panose="02020603050405020304" pitchFamily="18" charset="0"/>
                <a:ea typeface="Times New Roman" panose="02020603050405020304" pitchFamily="18" charset="0"/>
              </a:rPr>
              <a:t>V. Sundararajan, A. </a:t>
            </a:r>
            <a:r>
              <a:rPr lang="en-US" sz="1600" dirty="0" err="1">
                <a:effectLst/>
                <a:latin typeface="Times New Roman" panose="02020603050405020304" pitchFamily="18" charset="0"/>
                <a:ea typeface="Times New Roman" panose="02020603050405020304" pitchFamily="18" charset="0"/>
              </a:rPr>
              <a:t>Ghodousi</a:t>
            </a:r>
            <a:r>
              <a:rPr lang="en-US" sz="1600" dirty="0">
                <a:effectLst/>
                <a:latin typeface="Times New Roman" panose="02020603050405020304" pitchFamily="18" charset="0"/>
                <a:ea typeface="Times New Roman" panose="02020603050405020304" pitchFamily="18" charset="0"/>
              </a:rPr>
              <a:t> and J. E. Dietz, "The Most Common</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Control Deficiencies in CMMC non-compliant DoD contractors," 2022</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IEEE International Symposium on Technologies for Homeland Security</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(HST), Boston, MA, USA, 2022, pp. 1-7, </a:t>
            </a:r>
            <a:r>
              <a:rPr lang="en-US" sz="1600" dirty="0" err="1">
                <a:effectLst/>
                <a:latin typeface="Times New Roman" panose="02020603050405020304" pitchFamily="18" charset="0"/>
                <a:ea typeface="Times New Roman" panose="02020603050405020304" pitchFamily="18" charset="0"/>
              </a:rPr>
              <a:t>doi</a:t>
            </a:r>
            <a:r>
              <a:rPr lang="en-US" sz="1600" dirty="0">
                <a:effectLst/>
                <a:latin typeface="Times New Roman" panose="02020603050405020304" pitchFamily="18" charset="0"/>
                <a:ea typeface="Times New Roman" panose="02020603050405020304" pitchFamily="18" charset="0"/>
              </a:rPr>
              <a:t>:</a:t>
            </a:r>
          </a:p>
          <a:p>
            <a:pPr marL="742950" marR="0" lvl="1" indent="-285750">
              <a:lnSpc>
                <a:spcPct val="150000"/>
              </a:lnSpc>
              <a:buFont typeface="+mj-lt"/>
              <a:buAutoNum type="alphaLcPeriod"/>
            </a:pPr>
            <a:r>
              <a:rPr lang="en-US" sz="1600" dirty="0">
                <a:effectLst/>
                <a:latin typeface="Times New Roman" panose="02020603050405020304" pitchFamily="18" charset="0"/>
                <a:ea typeface="Times New Roman" panose="02020603050405020304" pitchFamily="18" charset="0"/>
              </a:rPr>
              <a:t>10.1109/HST56032.2022.10025445.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0695"/>
            <a:ext cx="10515600" cy="5926455"/>
          </a:xfrm>
        </p:spPr>
        <p:txBody>
          <a:bodyPr/>
          <a:lstStyle/>
          <a:p>
            <a:pPr algn="ctr"/>
            <a:r>
              <a:rPr lang="en-IN" altLang="en-US" sz="7200">
                <a:latin typeface="Times New Roman" panose="02020603050405020304" charset="0"/>
                <a:cs typeface="Times New Roman" panose="0202060305040502030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660</TotalTime>
  <Words>1466</Words>
  <Application>Microsoft Office PowerPoint</Application>
  <PresentationFormat>Widescreen</PresentationFormat>
  <Paragraphs>117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AI-DRIVEN CUSTOMIZED CYBER SECURITY TRAINING AND AWARENESS</vt:lpstr>
      <vt:lpstr>ABSTRACT</vt:lpstr>
      <vt:lpstr>EXISTING SYSTEM </vt:lpstr>
      <vt:lpstr>REVIEW OF LITERATURE </vt:lpstr>
      <vt:lpstr>PROPOSED SYSTEM </vt:lpstr>
      <vt:lpstr>PowerPoint Presentation</vt:lpstr>
      <vt:lpstr>ARCHITECTURE </vt:lpstr>
      <vt:lpstr>MODULES </vt:lpstr>
      <vt:lpstr>ARCHITECTURE DIAGRAM</vt:lpstr>
      <vt:lpstr>UML DIAGRAM </vt:lpstr>
      <vt:lpstr>TYPE OF TESTING </vt:lpstr>
      <vt:lpstr>FUTURE SCOPE </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WOMEN SAFETY IN INDIAN CITIES USING TWITTER DATA</dc:title>
  <dc:creator>Srimandal, Bhavani</dc:creator>
  <cp:lastModifiedBy>Srimandal, Bhavani</cp:lastModifiedBy>
  <cp:revision>6</cp:revision>
  <dcterms:created xsi:type="dcterms:W3CDTF">2025-08-20T07:04:36Z</dcterms:created>
  <dcterms:modified xsi:type="dcterms:W3CDTF">2025-08-23T04:22:18Z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DB3BB75118CC4DF895C44EF9E096281A_13</vt:lpwstr>
  </property>
  <property fmtid="{D5CDD505-2E9C-101B-9397-08002B2CF9AE}" pid="3" name="KSOProductBuildVer">
    <vt:lpwstr>1033-12.2.0.21931</vt:lpwstr>
  </property>
</Properties>
</file>