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3" r:id="rId7"/>
    <p:sldId id="271" r:id="rId8"/>
    <p:sldId id="269" r:id="rId9"/>
    <p:sldId id="262" r:id="rId10"/>
    <p:sldId id="268" r:id="rId11"/>
    <p:sldId id="264" r:id="rId12"/>
    <p:sldId id="265" r:id="rId13"/>
    <p:sldId id="266" r:id="rId14"/>
    <p:sldId id="267" r:id="rId15"/>
    <p:sldId id="270" r:id="rId1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4" d="100"/>
          <a:sy n="54" d="100"/>
        </p:scale>
        <p:origin x="79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3">
        <a:schemeClr val="bg2"/>
      </p:bgRef>
    </p:bg>
    <p:spTree>
      <p:nvGrpSpPr>
        <p:cNvPr id="1" name=""/>
        <p:cNvGrpSpPr/>
        <p:nvPr/>
      </p:nvGrpSpPr>
      <p:grpSpPr>
        <a:xfrm>
          <a:off x="0" y="0"/>
          <a:ext cx="0" cy="0"/>
          <a:chOff x="0" y="0"/>
          <a:chExt cx="0" cy="0"/>
        </a:xfrm>
      </p:grpSpPr>
      <p:pic>
        <p:nvPicPr>
          <p:cNvPr id="7" name="Picture 6" descr="Celestia-R1---OverlayTitle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ctrTitle"/>
          </p:nvPr>
        </p:nvSpPr>
        <p:spPr>
          <a:xfrm>
            <a:off x="3962399" y="1964267"/>
            <a:ext cx="7197726" cy="2421464"/>
          </a:xfrm>
        </p:spPr>
        <p:txBody>
          <a:bodyPr anchor="b">
            <a:normAutofit/>
          </a:bodyPr>
          <a:lstStyle>
            <a:lvl1pPr algn="r">
              <a:defRPr sz="4800">
                <a:effectLst/>
              </a:defRPr>
            </a:lvl1pPr>
          </a:lstStyle>
          <a:p>
            <a:r>
              <a:rPr lang="en-US"/>
              <a:t>Click to edit Master title style</a:t>
            </a:r>
            <a:endParaRPr lang="en-US" dirty="0"/>
          </a:p>
        </p:txBody>
      </p:sp>
      <p:sp>
        <p:nvSpPr>
          <p:cNvPr id="3" name="Subtitle 2"/>
          <p:cNvSpPr>
            <a:spLocks noGrp="1"/>
          </p:cNvSpPr>
          <p:nvPr>
            <p:ph type="subTitle" idx="1"/>
          </p:nvPr>
        </p:nvSpPr>
        <p:spPr>
          <a:xfrm>
            <a:off x="3962399" y="4385732"/>
            <a:ext cx="7197726" cy="1405467"/>
          </a:xfrm>
        </p:spPr>
        <p:txBody>
          <a:bodyPr anchor="t">
            <a:normAutofit/>
          </a:bodyPr>
          <a:lstStyle>
            <a:lvl1pPr marL="0" indent="0" algn="r">
              <a:buNone/>
              <a:defRPr sz="1800" cap="all">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8932558" y="5870575"/>
            <a:ext cx="1600200" cy="377825"/>
          </a:xfrm>
        </p:spPr>
        <p:txBody>
          <a:bodyPr/>
          <a:lstStyle/>
          <a:p>
            <a:fld id="{B61BEF0D-F0BB-DE4B-95CE-6DB70DBA9567}" type="datetimeFigureOut">
              <a:rPr lang="en-US" dirty="0"/>
              <a:pPr/>
              <a:t>8/22/2025</a:t>
            </a:fld>
            <a:endParaRPr lang="en-US" dirty="0"/>
          </a:p>
        </p:txBody>
      </p:sp>
      <p:sp>
        <p:nvSpPr>
          <p:cNvPr id="5" name="Footer Placeholder 4"/>
          <p:cNvSpPr>
            <a:spLocks noGrp="1"/>
          </p:cNvSpPr>
          <p:nvPr>
            <p:ph type="ftr" sz="quarter" idx="11"/>
          </p:nvPr>
        </p:nvSpPr>
        <p:spPr>
          <a:xfrm>
            <a:off x="3962399" y="5870575"/>
            <a:ext cx="4893958" cy="377825"/>
          </a:xfrm>
        </p:spPr>
        <p:txBody>
          <a:bodyPr/>
          <a:lstStyle/>
          <a:p>
            <a:endParaRPr lang="en-US" dirty="0"/>
          </a:p>
        </p:txBody>
      </p:sp>
      <p:sp>
        <p:nvSpPr>
          <p:cNvPr id="6" name="Slide Number Placeholder 5"/>
          <p:cNvSpPr>
            <a:spLocks noGrp="1"/>
          </p:cNvSpPr>
          <p:nvPr>
            <p:ph type="sldNum" sz="quarter" idx="12"/>
          </p:nvPr>
        </p:nvSpPr>
        <p:spPr>
          <a:xfrm>
            <a:off x="10608958" y="5870575"/>
            <a:ext cx="551167" cy="377825"/>
          </a:xfrm>
        </p:spPr>
        <p:txBody>
          <a:bodyPr/>
          <a:lstStyle/>
          <a:p>
            <a:fld id="{D57F1E4F-1CFF-5643-939E-217C01CDF565}" type="slidenum">
              <a:rPr lang="en-US" dirty="0"/>
              <a:pPr/>
              <a:t>‹#›</a:t>
            </a:fld>
            <a:endParaRPr lang="en-US" dirty="0"/>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3308581"/>
            <a:ext cx="10131427" cy="1468800"/>
          </a:xfrm>
        </p:spPr>
        <p:txBody>
          <a:bodyPr anchor="b"/>
          <a:lstStyle>
            <a:lvl1pPr algn="l">
              <a:defRPr sz="4000" b="0" cap="all"/>
            </a:lvl1pPr>
          </a:lstStyle>
          <a:p>
            <a:r>
              <a:rPr lang="en-US"/>
              <a:t>Click to edit Master title style</a:t>
            </a:r>
            <a:endParaRPr lang="en-US" dirty="0"/>
          </a:p>
        </p:txBody>
      </p:sp>
      <p:sp>
        <p:nvSpPr>
          <p:cNvPr id="3" name="Text Placeholder 2"/>
          <p:cNvSpPr>
            <a:spLocks noGrp="1"/>
          </p:cNvSpPr>
          <p:nvPr>
            <p:ph type="body" idx="1"/>
          </p:nvPr>
        </p:nvSpPr>
        <p:spPr>
          <a:xfrm>
            <a:off x="685799" y="4777381"/>
            <a:ext cx="10131428" cy="860400"/>
          </a:xfrm>
        </p:spPr>
        <p:txBody>
          <a:bodyPr anchor="t">
            <a:normAutofit/>
          </a:bodyPr>
          <a:lstStyle>
            <a:lvl1pPr marL="0" indent="0" algn="l">
              <a:buNone/>
              <a:defRPr sz="2000" cap="all">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802" y="2142067"/>
            <a:ext cx="4995334" cy="3649134"/>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821895" y="2142067"/>
            <a:ext cx="4995332" cy="3649133"/>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8/22/2025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973670" y="2218267"/>
            <a:ext cx="4709054"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5801" y="2870201"/>
            <a:ext cx="4996923"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096003" y="2226734"/>
            <a:ext cx="4722813" cy="576262"/>
          </a:xfrm>
        </p:spPr>
        <p:txBody>
          <a:bodyPr anchor="b">
            <a:noAutofit/>
          </a:bodyPr>
          <a:lstStyle>
            <a:lvl1pPr marL="0" indent="0">
              <a:buNone/>
              <a:defRPr sz="28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823483" y="2870201"/>
            <a:ext cx="4995334" cy="2920998"/>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8/22/2025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8/22/2025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Date Placeholder 1"/>
          <p:cNvSpPr>
            <a:spLocks noGrp="1"/>
          </p:cNvSpPr>
          <p:nvPr>
            <p:ph type="dt" sz="half" idx="10"/>
          </p:nvPr>
        </p:nvSpPr>
        <p:spPr/>
        <p:txBody>
          <a:bodyPr/>
          <a:lstStyle/>
          <a:p>
            <a:fld id="{B61BEF0D-F0BB-DE4B-95CE-6DB70DBA9567}" type="datetimeFigureOut">
              <a:rPr lang="en-US" dirty="0"/>
              <a:pPr/>
              <a:t>8/22/2025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2074333"/>
            <a:ext cx="3680885" cy="1371600"/>
          </a:xfrm>
        </p:spPr>
        <p:txBody>
          <a:bodyPr anchor="b">
            <a:normAutofit/>
          </a:bodyPr>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648201" y="609601"/>
            <a:ext cx="6169026" cy="518160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800" y="3445933"/>
            <a:ext cx="3680885" cy="1828800"/>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1600200"/>
            <a:ext cx="6164653" cy="1371600"/>
          </a:xfrm>
        </p:spPr>
        <p:txBody>
          <a:bodyPr anchor="b">
            <a:normAutofit/>
          </a:bodyPr>
          <a:lstStyle>
            <a:lvl1pPr algn="l">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536253" y="914400"/>
            <a:ext cx="3280974" cy="4572000"/>
          </a:xfrm>
          <a:prstGeom prst="roundRect">
            <a:avLst>
              <a:gd name="adj" fmla="val 42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2971800"/>
            <a:ext cx="6164653" cy="1828800"/>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0" y="4732865"/>
            <a:ext cx="1013142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371600" y="932112"/>
            <a:ext cx="8759827" cy="3164976"/>
          </a:xfrm>
          <a:prstGeom prst="roundRect">
            <a:avLst>
              <a:gd name="adj" fmla="val 4380"/>
            </a:avLst>
          </a:prstGeom>
          <a:ln w="50800" cap="sq" cmpd="dbl">
            <a:gradFill flip="none" rotWithShape="1">
              <a:gsLst>
                <a:gs pos="0">
                  <a:srgbClr val="FFFFFF"/>
                </a:gs>
                <a:gs pos="100000">
                  <a:schemeClr val="tx1">
                    <a:alpha val="0"/>
                  </a:schemeClr>
                </a:gs>
              </a:gsLst>
              <a:path path="circle">
                <a:fillToRect l="50000" t="50000" r="50000" b="50000"/>
              </a:path>
              <a:tileRect/>
            </a:gradFill>
            <a:miter lim="800000"/>
          </a:ln>
          <a:effectLst>
            <a:outerShdw blurRad="254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800" y="5299603"/>
            <a:ext cx="10131427" cy="49371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8/22/2025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3124199"/>
          </a:xfrm>
        </p:spPr>
        <p:txBody>
          <a:bodyPr anchor="ctr">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0" y="4343400"/>
            <a:ext cx="10131428"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6" name="Picture 15"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5" name="TextBox 14"/>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1" name="TextBox 10"/>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97875" y="3352800"/>
            <a:ext cx="9339184"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87465" y="4343400"/>
            <a:ext cx="10152367" cy="14478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2" y="3308581"/>
            <a:ext cx="10131425" cy="1468800"/>
          </a:xfrm>
        </p:spPr>
        <p:txBody>
          <a:bodyPr anchor="b">
            <a:normAutofit/>
          </a:bodyPr>
          <a:lstStyle>
            <a:lvl1pPr algn="l">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685801" y="4777381"/>
            <a:ext cx="10131426"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pic>
        <p:nvPicPr>
          <p:cNvPr id="11" name="Picture 10"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13" name="TextBox 12"/>
          <p:cNvSpPr txBox="1"/>
          <p:nvPr/>
        </p:nvSpPr>
        <p:spPr>
          <a:xfrm>
            <a:off x="10237867" y="2743200"/>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4" name="TextBox 13"/>
          <p:cNvSpPr txBox="1"/>
          <p:nvPr/>
        </p:nvSpPr>
        <p:spPr>
          <a:xfrm>
            <a:off x="488275" y="823337"/>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16" name="Title 1"/>
          <p:cNvSpPr>
            <a:spLocks noGrp="1"/>
          </p:cNvSpPr>
          <p:nvPr>
            <p:ph type="title"/>
          </p:nvPr>
        </p:nvSpPr>
        <p:spPr>
          <a:xfrm>
            <a:off x="992267" y="609601"/>
            <a:ext cx="9550399" cy="2743199"/>
          </a:xfrm>
        </p:spPr>
        <p:txBody>
          <a:bodyPr anchor="ctr">
            <a:normAutofit/>
          </a:bodyPr>
          <a:lstStyle>
            <a:lvl1pPr algn="l">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685800" y="3886200"/>
            <a:ext cx="10135436" cy="889000"/>
          </a:xfrm>
        </p:spPr>
        <p:txBody>
          <a:bodyPr vert="horz" lIns="91440" tIns="45720" rIns="91440" bIns="45720" rtlCol="0" anchor="b">
            <a:normAutofit/>
          </a:bodyPr>
          <a:lstStyle>
            <a:lvl1pPr>
              <a:buNone/>
              <a:defRPr lang="en-US" sz="24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799" y="4775200"/>
            <a:ext cx="10135436"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pic>
        <p:nvPicPr>
          <p:cNvPr id="8" name="Picture 7"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Title 1"/>
          <p:cNvSpPr>
            <a:spLocks noGrp="1"/>
          </p:cNvSpPr>
          <p:nvPr>
            <p:ph type="title"/>
          </p:nvPr>
        </p:nvSpPr>
        <p:spPr>
          <a:xfrm>
            <a:off x="685801" y="609601"/>
            <a:ext cx="10131427" cy="2743199"/>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685801" y="3505200"/>
            <a:ext cx="10131428"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685800" y="4343400"/>
            <a:ext cx="10131428"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8/22/2025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8" name="Title 1"/>
          <p:cNvSpPr>
            <a:spLocks noGrp="1"/>
          </p:cNvSpPr>
          <p:nvPr>
            <p:ph type="title"/>
          </p:nvPr>
        </p:nvSpPr>
        <p:spPr>
          <a:xfrm>
            <a:off x="685801" y="609600"/>
            <a:ext cx="10131425" cy="1456267"/>
          </a:xfrm>
        </p:spPr>
        <p:txBody>
          <a:bodyPr/>
          <a:lstStyle/>
          <a:p>
            <a:r>
              <a:rPr lang="en-US"/>
              <a:t>Click to edit Master title style</a:t>
            </a:r>
            <a:endParaRPr lang="en-US"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7" name="Picture 6" descr="Celestia-R1---OverlayContentH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 name="Vertical Title 1"/>
          <p:cNvSpPr>
            <a:spLocks noGrp="1"/>
          </p:cNvSpPr>
          <p:nvPr>
            <p:ph type="title" orient="vert"/>
          </p:nvPr>
        </p:nvSpPr>
        <p:spPr>
          <a:xfrm>
            <a:off x="8658675" y="609599"/>
            <a:ext cx="2158552"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5800" y="609600"/>
            <a:ext cx="7832116" cy="51816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8/22/2025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801" y="609600"/>
            <a:ext cx="10131425" cy="1456267"/>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801" y="2142067"/>
            <a:ext cx="10131425" cy="3649133"/>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589660" y="5870575"/>
            <a:ext cx="1600200"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61BEF0D-F0BB-DE4B-95CE-6DB70DBA9567}" type="datetimeFigureOut">
              <a:rPr lang="en-US" dirty="0"/>
              <a:pPr/>
              <a:t>8/22/2025</a:t>
            </a:fld>
            <a:endParaRPr lang="en-US" dirty="0"/>
          </a:p>
        </p:txBody>
      </p:sp>
      <p:sp>
        <p:nvSpPr>
          <p:cNvPr id="5" name="Footer Placeholder 4"/>
          <p:cNvSpPr>
            <a:spLocks noGrp="1"/>
          </p:cNvSpPr>
          <p:nvPr>
            <p:ph type="ftr" sz="quarter" idx="3"/>
          </p:nvPr>
        </p:nvSpPr>
        <p:spPr>
          <a:xfrm>
            <a:off x="685800" y="5870575"/>
            <a:ext cx="7827659" cy="3778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dirty="0"/>
          </a:p>
        </p:txBody>
      </p:sp>
      <p:sp>
        <p:nvSpPr>
          <p:cNvPr id="6" name="Slide Number Placeholder 5"/>
          <p:cNvSpPr>
            <a:spLocks noGrp="1"/>
          </p:cNvSpPr>
          <p:nvPr>
            <p:ph type="sldNum" sz="quarter" idx="4"/>
          </p:nvPr>
        </p:nvSpPr>
        <p:spPr>
          <a:xfrm>
            <a:off x="10266060" y="5870575"/>
            <a:ext cx="551167" cy="3778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D57F1E4F-1CFF-5643-939E-217C01CDF565}" type="slidenum">
              <a:rPr lang="en-US" dirty="0"/>
              <a:pPr/>
              <a:t>‹#›</a:t>
            </a:fld>
            <a:endParaRPr lang="en-US" dirty="0"/>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0" r:id="rId9"/>
    <p:sldLayoutId id="2147483657" r:id="rId10"/>
    <p:sldLayoutId id="2147483663" r:id="rId11"/>
    <p:sldLayoutId id="2147483664" r:id="rId12"/>
    <p:sldLayoutId id="2147483665" r:id="rId13"/>
    <p:sldLayoutId id="2147483668" r:id="rId14"/>
    <p:sldLayoutId id="2147483667" r:id="rId15"/>
    <p:sldLayoutId id="2147483658" r:id="rId16"/>
    <p:sldLayoutId id="214748365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ts val="0"/>
        </a:spcBef>
        <a:spcAft>
          <a:spcPts val="1000"/>
        </a:spcAft>
        <a:buClr>
          <a:schemeClr val="tx1"/>
        </a:buClr>
        <a:buSzPct val="100000"/>
        <a:buFont typeface="Arial"/>
        <a:buChar char="•"/>
        <a:defRPr sz="1800" kern="1200" cap="none">
          <a:solidFill>
            <a:schemeClr val="tx1"/>
          </a:solidFill>
          <a:effectLst/>
          <a:latin typeface="+mn-lt"/>
          <a:ea typeface="+mn-ea"/>
          <a:cs typeface="+mn-cs"/>
        </a:defRPr>
      </a:lvl1pPr>
      <a:lvl2pPr marL="742950" indent="-285750" algn="l" defTabSz="457200" rtl="0" eaLnBrk="1" latinLnBrk="0" hangingPunct="1">
        <a:spcBef>
          <a:spcPts val="0"/>
        </a:spcBef>
        <a:spcAft>
          <a:spcPts val="1000"/>
        </a:spcAft>
        <a:buClr>
          <a:schemeClr val="tx1"/>
        </a:buClr>
        <a:buSzPct val="100000"/>
        <a:buFont typeface="Arial"/>
        <a:buChar char="•"/>
        <a:defRPr sz="1600" kern="1200" cap="none">
          <a:solidFill>
            <a:schemeClr val="tx1"/>
          </a:solidFill>
          <a:effectLst/>
          <a:latin typeface="+mn-lt"/>
          <a:ea typeface="+mn-ea"/>
          <a:cs typeface="+mn-cs"/>
        </a:defRPr>
      </a:lvl2pPr>
      <a:lvl3pPr marL="1200150" indent="-285750" algn="l" defTabSz="457200" rtl="0" eaLnBrk="1" latinLnBrk="0" hangingPunct="1">
        <a:spcBef>
          <a:spcPts val="0"/>
        </a:spcBef>
        <a:spcAft>
          <a:spcPts val="1000"/>
        </a:spcAft>
        <a:buClr>
          <a:schemeClr val="tx1"/>
        </a:buClr>
        <a:buSzPct val="100000"/>
        <a:buFont typeface="Arial"/>
        <a:buChar char="•"/>
        <a:defRPr sz="1400" kern="1200" cap="none">
          <a:solidFill>
            <a:schemeClr val="tx1"/>
          </a:solidFill>
          <a:effectLst/>
          <a:latin typeface="+mn-lt"/>
          <a:ea typeface="+mn-ea"/>
          <a:cs typeface="+mn-cs"/>
        </a:defRPr>
      </a:lvl3pPr>
      <a:lvl4pPr marL="15430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4pPr>
      <a:lvl5pPr marL="2000250" indent="-17145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5pPr>
      <a:lvl6pPr marL="25146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6pPr>
      <a:lvl7pPr marL="29718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7pPr>
      <a:lvl8pPr marL="34290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8pPr>
      <a:lvl9pPr marL="3886200" indent="-228600" algn="l" defTabSz="457200" rtl="0" eaLnBrk="1" latinLnBrk="0" hangingPunct="1">
        <a:spcBef>
          <a:spcPts val="0"/>
        </a:spcBef>
        <a:spcAft>
          <a:spcPts val="1000"/>
        </a:spcAft>
        <a:buClr>
          <a:schemeClr val="tx1"/>
        </a:buClr>
        <a:buSzPct val="100000"/>
        <a:buFont typeface="Arial"/>
        <a:buChar char="•"/>
        <a:defRPr sz="12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337E58-37D6-23DD-6C80-CD10CE8A3D75}"/>
              </a:ext>
            </a:extLst>
          </p:cNvPr>
          <p:cNvSpPr>
            <a:spLocks noGrp="1"/>
          </p:cNvSpPr>
          <p:nvPr>
            <p:ph type="ctrTitle"/>
          </p:nvPr>
        </p:nvSpPr>
        <p:spPr>
          <a:xfrm>
            <a:off x="2017336" y="1066803"/>
            <a:ext cx="9142788" cy="3318928"/>
          </a:xfrm>
        </p:spPr>
        <p:txBody>
          <a:bodyPr>
            <a:normAutofit fontScale="90000"/>
          </a:bodyPr>
          <a:lstStyle/>
          <a:p>
            <a:r>
              <a:rPr lang="en-US" dirty="0">
                <a:latin typeface="Times New Roman" panose="02020603050405020304" pitchFamily="18" charset="0"/>
                <a:cs typeface="Times New Roman" panose="02020603050405020304" pitchFamily="18" charset="0"/>
              </a:rPr>
              <a:t>Darknet Traffic Analysis Investigating the Impact of Modified Tor Traffic on Onion Service Traffic Classification</a:t>
            </a:r>
            <a:endParaRPr lang="en-IN" dirty="0">
              <a:latin typeface="Times New Roman" panose="02020603050405020304" pitchFamily="18" charset="0"/>
              <a:cs typeface="Times New Roman" panose="02020603050405020304" pitchFamily="18" charset="0"/>
            </a:endParaRPr>
          </a:p>
        </p:txBody>
      </p:sp>
      <p:sp>
        <p:nvSpPr>
          <p:cNvPr id="3" name="Subtitle 2">
            <a:extLst>
              <a:ext uri="{FF2B5EF4-FFF2-40B4-BE49-F238E27FC236}">
                <a16:creationId xmlns:a16="http://schemas.microsoft.com/office/drawing/2014/main" id="{613B3981-4C4F-19BE-2F70-2A413698E8CB}"/>
              </a:ext>
            </a:extLst>
          </p:cNvPr>
          <p:cNvSpPr>
            <a:spLocks noGrp="1"/>
          </p:cNvSpPr>
          <p:nvPr>
            <p:ph type="subTitle" idx="1"/>
          </p:nvPr>
        </p:nvSpPr>
        <p:spPr>
          <a:xfrm>
            <a:off x="3007151" y="4385731"/>
            <a:ext cx="8152974" cy="1405467"/>
          </a:xfrm>
        </p:spPr>
        <p:txBody>
          <a:bodyPr/>
          <a:lstStyle/>
          <a:p>
            <a:endParaRPr lang="en-US" dirty="0"/>
          </a:p>
          <a:p>
            <a:r>
              <a:rPr lang="en-IN" dirty="0">
                <a:latin typeface="Times New Roman" panose="02020603050405020304" pitchFamily="18" charset="0"/>
                <a:cs typeface="Times New Roman" panose="02020603050405020304" pitchFamily="18" charset="0"/>
              </a:rPr>
              <a:t>Vangari Akshitha</a:t>
            </a:r>
            <a:br>
              <a:rPr lang="en-IN" dirty="0">
                <a:latin typeface="Times New Roman" panose="02020603050405020304" pitchFamily="18" charset="0"/>
                <a:cs typeface="Times New Roman" panose="02020603050405020304" pitchFamily="18" charset="0"/>
              </a:rPr>
            </a:br>
            <a:r>
              <a:rPr lang="en-IN" dirty="0">
                <a:latin typeface="Times New Roman" panose="02020603050405020304" pitchFamily="18" charset="0"/>
                <a:cs typeface="Times New Roman" panose="02020603050405020304" pitchFamily="18" charset="0"/>
              </a:rPr>
              <a:t>151223862092</a:t>
            </a:r>
          </a:p>
        </p:txBody>
      </p:sp>
    </p:spTree>
    <p:extLst>
      <p:ext uri="{BB962C8B-B14F-4D97-AF65-F5344CB8AC3E}">
        <p14:creationId xmlns:p14="http://schemas.microsoft.com/office/powerpoint/2010/main" val="31662218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3ABF32-7B31-FEBB-3CB2-38A09AC5F00A}"/>
              </a:ext>
            </a:extLst>
          </p:cNvPr>
          <p:cNvSpPr>
            <a:spLocks noGrp="1"/>
          </p:cNvSpPr>
          <p:nvPr>
            <p:ph type="title"/>
          </p:nvPr>
        </p:nvSpPr>
        <p:spPr>
          <a:xfrm>
            <a:off x="1030287" y="11575"/>
            <a:ext cx="10131425" cy="1456267"/>
          </a:xfrm>
        </p:spPr>
        <p:txBody>
          <a:bodyPr/>
          <a:lstStyle/>
          <a:p>
            <a:pPr algn="ctr"/>
            <a:r>
              <a:rPr lang="en-US" b="1" dirty="0">
                <a:latin typeface="Times New Roman" panose="02020603050405020304" pitchFamily="18" charset="0"/>
                <a:cs typeface="Times New Roman" panose="02020603050405020304" pitchFamily="18" charset="0"/>
              </a:rPr>
              <a:t>ABSTRACT</a:t>
            </a:r>
            <a:endParaRPr lang="en-IN" b="1"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82750399-BCDF-EA3F-760A-1F28641C38A6}"/>
              </a:ext>
            </a:extLst>
          </p:cNvPr>
          <p:cNvSpPr>
            <a:spLocks noGrp="1" noChangeArrowheads="1"/>
          </p:cNvSpPr>
          <p:nvPr>
            <p:ph idx="1"/>
          </p:nvPr>
        </p:nvSpPr>
        <p:spPr bwMode="auto">
          <a:xfrm>
            <a:off x="1091405" y="1617801"/>
            <a:ext cx="10009188"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project focuses on classifying Onion Service traffic in the Tor network, which is part of the darknet and often difficult to analyze due to encryption and obfuscation techniques. By applying machine learning models, I aim to detect traffic patterns that distinguish Onion Service traffic.</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Django-based web application was developed that integrates user registration, dataset viewing, model training, and prediction in a single platform. This ensures that even non-technical users can interact with the system.</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Logistic Regression, Decision Tree, and Random Forest algorithms were implemented and trained on a predefined dataset containing six traffic features. These models were compared using standard performance metrics.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project demonstrates how WTFPAD, a traffic modification method, impacts Onion Service classification and shows the feasibility of machine learning for darknet traffic analysis.</a:t>
            </a:r>
          </a:p>
        </p:txBody>
      </p:sp>
    </p:spTree>
    <p:extLst>
      <p:ext uri="{BB962C8B-B14F-4D97-AF65-F5344CB8AC3E}">
        <p14:creationId xmlns:p14="http://schemas.microsoft.com/office/powerpoint/2010/main" val="32234060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D436F4-BDFE-3E16-854A-82512379837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5CBC9B-4FF7-1AF4-A462-455565753432}"/>
              </a:ext>
            </a:extLst>
          </p:cNvPr>
          <p:cNvSpPr>
            <a:spLocks noGrp="1"/>
          </p:cNvSpPr>
          <p:nvPr>
            <p:ph type="title"/>
          </p:nvPr>
        </p:nvSpPr>
        <p:spPr>
          <a:xfrm>
            <a:off x="1030287" y="11575"/>
            <a:ext cx="10131425" cy="1456267"/>
          </a:xfrm>
        </p:spPr>
        <p:txBody>
          <a:bodyPr/>
          <a:lstStyle/>
          <a:p>
            <a:pPr algn="ctr"/>
            <a:r>
              <a:rPr lang="en-US" b="1" dirty="0">
                <a:latin typeface="Times New Roman" panose="02020603050405020304" pitchFamily="18" charset="0"/>
                <a:cs typeface="Times New Roman" panose="02020603050405020304" pitchFamily="18" charset="0"/>
              </a:rPr>
              <a:t>EXISTING SYSTEM</a:t>
            </a:r>
            <a:endParaRPr lang="en-IN" b="1" dirty="0">
              <a:latin typeface="Times New Roman" panose="02020603050405020304" pitchFamily="18" charset="0"/>
              <a:cs typeface="Times New Roman" panose="02020603050405020304" pitchFamily="18" charset="0"/>
            </a:endParaRPr>
          </a:p>
        </p:txBody>
      </p:sp>
      <p:sp>
        <p:nvSpPr>
          <p:cNvPr id="6" name="Rectangle 3">
            <a:extLst>
              <a:ext uri="{FF2B5EF4-FFF2-40B4-BE49-F238E27FC236}">
                <a16:creationId xmlns:a16="http://schemas.microsoft.com/office/drawing/2014/main" id="{CCEFF57E-7210-CBD6-D600-C64552C00F02}"/>
              </a:ext>
            </a:extLst>
          </p:cNvPr>
          <p:cNvSpPr>
            <a:spLocks noGrp="1" noChangeArrowheads="1"/>
          </p:cNvSpPr>
          <p:nvPr>
            <p:ph idx="1"/>
          </p:nvPr>
        </p:nvSpPr>
        <p:spPr bwMode="auto">
          <a:xfrm>
            <a:off x="1183720" y="1621730"/>
            <a:ext cx="9977992" cy="40934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Current systems for darknet traffic analysis primarily focus on Tor detection without exploring Onion Services specifically. This limits their usefulness in handling anonymized services.</a:t>
            </a:r>
          </a:p>
          <a:p>
            <a:pPr marL="0" marR="0" lvl="0" indent="0" algn="just" defTabSz="914400" rtl="0" eaLnBrk="0" fontAlgn="base" latinLnBrk="0" hangingPunct="0">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Many existing approaches rely on statistical or signature-based methods, which are not robust against</a:t>
            </a:r>
            <a:r>
              <a:rPr lang="en-US" altLang="en-US" sz="2000" dirty="0">
                <a:latin typeface="Times New Roman" panose="02020603050405020304" pitchFamily="18" charset="0"/>
                <a:cs typeface="Times New Roman" panose="02020603050405020304" pitchFamily="18" charset="0"/>
              </a:rPr>
              <a:t>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modified traffic like WTFPAD. Such systems often fail when traffic is deliberately obfuscated.</a:t>
            </a:r>
          </a:p>
          <a:p>
            <a:pPr marL="0" marR="0" lvl="0" indent="0" algn="just" defTabSz="914400" rtl="0" eaLnBrk="0" fontAlgn="base" latinLnBrk="0" hangingPunct="0">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User-friendly platforms are missing in most studies, meaning results are presented only at research level without practical interfaces. This creates a gap between research and real-world usability.</a:t>
            </a:r>
          </a:p>
          <a:p>
            <a:pPr marL="0" marR="0" lvl="0" indent="0" algn="just" defTabSz="914400" rtl="0" eaLnBrk="0" fontAlgn="base" latinLnBrk="0" hangingPunct="0">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Real-time traffic analysis and interactive web systems are not typically provided in older solutions, making them less practical for end-users and system administrators.</a:t>
            </a:r>
          </a:p>
        </p:txBody>
      </p:sp>
    </p:spTree>
    <p:extLst>
      <p:ext uri="{BB962C8B-B14F-4D97-AF65-F5344CB8AC3E}">
        <p14:creationId xmlns:p14="http://schemas.microsoft.com/office/powerpoint/2010/main" val="1503365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6A604-9D08-DA7D-0C4A-5630A30947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7283707-F541-3972-142F-1966D94244DB}"/>
              </a:ext>
            </a:extLst>
          </p:cNvPr>
          <p:cNvSpPr>
            <a:spLocks noGrp="1"/>
          </p:cNvSpPr>
          <p:nvPr>
            <p:ph type="title"/>
          </p:nvPr>
        </p:nvSpPr>
        <p:spPr>
          <a:xfrm>
            <a:off x="1030287" y="11575"/>
            <a:ext cx="10131425" cy="1456267"/>
          </a:xfrm>
        </p:spPr>
        <p:txBody>
          <a:bodyPr/>
          <a:lstStyle/>
          <a:p>
            <a:pPr algn="ctr"/>
            <a:r>
              <a:rPr lang="en-US" b="1" dirty="0">
                <a:latin typeface="Times New Roman" panose="02020603050405020304" pitchFamily="18" charset="0"/>
                <a:cs typeface="Times New Roman" panose="02020603050405020304" pitchFamily="18" charset="0"/>
              </a:rPr>
              <a:t>REVIEW OF LITERATURE</a:t>
            </a:r>
            <a:endParaRPr lang="en-IN" b="1"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9097F422-9A34-5482-EDDA-0121BD416AC0}"/>
              </a:ext>
            </a:extLst>
          </p:cNvPr>
          <p:cNvSpPr>
            <a:spLocks noGrp="1" noChangeArrowheads="1"/>
          </p:cNvSpPr>
          <p:nvPr>
            <p:ph idx="1"/>
          </p:nvPr>
        </p:nvSpPr>
        <p:spPr bwMode="auto">
          <a:xfrm>
            <a:off x="1030288" y="1629888"/>
            <a:ext cx="10131424"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Panchenko et al. (2016):</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Proposed a K-Fingerprinting attack on Tor traffic using Random Forests; demonstrated robustness against defenses.</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Juarez et al. (2016):</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Introduced WTF-PAD as a defense mechanism; analyzed its padding strategy and resistance to website fingerprinting.</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Rimmer et al. (2018):</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Applied deep learning models (CNNs, RNNs) to Tor website fingerprinting; achieved state-of-the-art accuracy.</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Sirinam et al. (2018):</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Presented Deep Fingerprinting attack using deep learning; showed Tor traffic can still be classified with high precision.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Hayes &amp; Danezis (2017):</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Explored traffic analysis using classical ML methods (k-NN, SVM); confirmed ML’s role in Onion Service classification.</a:t>
            </a:r>
          </a:p>
        </p:txBody>
      </p:sp>
    </p:spTree>
    <p:extLst>
      <p:ext uri="{BB962C8B-B14F-4D97-AF65-F5344CB8AC3E}">
        <p14:creationId xmlns:p14="http://schemas.microsoft.com/office/powerpoint/2010/main" val="10030475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16565B-CBEE-7686-896D-600328CA420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0C4869-039A-0D5C-B8A7-9D09E2E14C75}"/>
              </a:ext>
            </a:extLst>
          </p:cNvPr>
          <p:cNvSpPr>
            <a:spLocks noGrp="1"/>
          </p:cNvSpPr>
          <p:nvPr>
            <p:ph type="title"/>
          </p:nvPr>
        </p:nvSpPr>
        <p:spPr>
          <a:xfrm>
            <a:off x="1030287" y="11575"/>
            <a:ext cx="10131425" cy="1456267"/>
          </a:xfrm>
        </p:spPr>
        <p:txBody>
          <a:bodyPr/>
          <a:lstStyle/>
          <a:p>
            <a:pPr algn="ctr"/>
            <a:r>
              <a:rPr lang="en-US" b="1" dirty="0">
                <a:latin typeface="Times New Roman" panose="02020603050405020304" pitchFamily="18" charset="0"/>
                <a:cs typeface="Times New Roman" panose="02020603050405020304" pitchFamily="18" charset="0"/>
              </a:rPr>
              <a:t>PROPOSED SYSTEM</a:t>
            </a:r>
            <a:endParaRPr lang="en-IN"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68A59730-9780-3B05-1A54-00C8A9506C3F}"/>
              </a:ext>
            </a:extLst>
          </p:cNvPr>
          <p:cNvSpPr>
            <a:spLocks noGrp="1" noChangeArrowheads="1"/>
          </p:cNvSpPr>
          <p:nvPr>
            <p:ph idx="1"/>
          </p:nvPr>
        </p:nvSpPr>
        <p:spPr bwMode="auto">
          <a:xfrm>
            <a:off x="1126602" y="1889805"/>
            <a:ext cx="10035110"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 developed a system that combines machine learning with a web-based interface, enabling classification of Onion Service and WTFPAD traffic in a practical environment.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dynamically trains three algorithms: Logistic Regression, Decision Tree, and Random Forest, ensuring flexibility in evaluating different models.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predefined dataset with six features is used for training and testing, making it suitable for controlled experiments and consistent evaluations.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By focusing on WTFPAD as the modified Tor traffic, this project directly addresses the research gap while demonstrating a working prototype for real-world extension.</a:t>
            </a:r>
          </a:p>
        </p:txBody>
      </p:sp>
    </p:spTree>
    <p:extLst>
      <p:ext uri="{BB962C8B-B14F-4D97-AF65-F5344CB8AC3E}">
        <p14:creationId xmlns:p14="http://schemas.microsoft.com/office/powerpoint/2010/main" val="23328217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46854-27A9-A98B-3AEF-7426EE759E52}"/>
            </a:ext>
          </a:extLst>
        </p:cNvPr>
        <p:cNvGrpSpPr/>
        <p:nvPr/>
      </p:nvGrpSpPr>
      <p:grpSpPr>
        <a:xfrm>
          <a:off x="0" y="0"/>
          <a:ext cx="0" cy="0"/>
          <a:chOff x="0" y="0"/>
          <a:chExt cx="0" cy="0"/>
        </a:xfrm>
      </p:grpSpPr>
      <p:sp>
        <p:nvSpPr>
          <p:cNvPr id="3" name="Title 1">
            <a:extLst>
              <a:ext uri="{FF2B5EF4-FFF2-40B4-BE49-F238E27FC236}">
                <a16:creationId xmlns:a16="http://schemas.microsoft.com/office/drawing/2014/main" id="{41061DB3-A672-D70E-A899-A307DEB0594B}"/>
              </a:ext>
            </a:extLst>
          </p:cNvPr>
          <p:cNvSpPr>
            <a:spLocks noGrp="1"/>
          </p:cNvSpPr>
          <p:nvPr>
            <p:ph idx="1"/>
          </p:nvPr>
        </p:nvSpPr>
        <p:spPr>
          <a:xfrm>
            <a:off x="829559" y="678730"/>
            <a:ext cx="10332154" cy="5392132"/>
          </a:xfrm>
        </p:spPr>
        <p:txBody>
          <a:bodyPr>
            <a:normAutofit lnSpcReduction="10000"/>
          </a:bodyPr>
          <a:lstStyle/>
          <a:p>
            <a:pPr marL="0" indent="0">
              <a:buNone/>
            </a:pPr>
            <a:r>
              <a:rPr lang="en-IN" sz="2000" b="1" dirty="0">
                <a:latin typeface="Times New Roman" panose="02020603050405020304" pitchFamily="18" charset="0"/>
                <a:cs typeface="Times New Roman" panose="02020603050405020304" pitchFamily="18" charset="0"/>
              </a:rPr>
              <a:t>Software Requirements</a:t>
            </a:r>
          </a:p>
          <a:p>
            <a:r>
              <a:rPr lang="en-IN" sz="2000" b="1" dirty="0">
                <a:latin typeface="Times New Roman" panose="02020603050405020304" pitchFamily="18" charset="0"/>
                <a:cs typeface="Times New Roman" panose="02020603050405020304" pitchFamily="18" charset="0"/>
              </a:rPr>
              <a:t>Operating System:</a:t>
            </a:r>
            <a:r>
              <a:rPr lang="en-IN" sz="2000" dirty="0">
                <a:latin typeface="Times New Roman" panose="02020603050405020304" pitchFamily="18" charset="0"/>
                <a:cs typeface="Times New Roman" panose="02020603050405020304" pitchFamily="18" charset="0"/>
              </a:rPr>
              <a:t> Windows 10 / Linux (Ubuntu recommended for Python environment).</a:t>
            </a:r>
          </a:p>
          <a:p>
            <a:r>
              <a:rPr lang="en-IN" sz="2000" b="1" dirty="0">
                <a:latin typeface="Times New Roman" panose="02020603050405020304" pitchFamily="18" charset="0"/>
                <a:cs typeface="Times New Roman" panose="02020603050405020304" pitchFamily="18" charset="0"/>
              </a:rPr>
              <a:t>Programming Language:</a:t>
            </a:r>
            <a:r>
              <a:rPr lang="en-IN" sz="2000" dirty="0">
                <a:latin typeface="Times New Roman" panose="02020603050405020304" pitchFamily="18" charset="0"/>
                <a:cs typeface="Times New Roman" panose="02020603050405020304" pitchFamily="18" charset="0"/>
              </a:rPr>
              <a:t> Python 3.8+</a:t>
            </a:r>
          </a:p>
          <a:p>
            <a:r>
              <a:rPr lang="en-IN" sz="2000" b="1" dirty="0">
                <a:latin typeface="Times New Roman" panose="02020603050405020304" pitchFamily="18" charset="0"/>
                <a:cs typeface="Times New Roman" panose="02020603050405020304" pitchFamily="18" charset="0"/>
              </a:rPr>
              <a:t>Framework:</a:t>
            </a:r>
            <a:r>
              <a:rPr lang="en-IN" sz="2000" dirty="0">
                <a:latin typeface="Times New Roman" panose="02020603050405020304" pitchFamily="18" charset="0"/>
                <a:cs typeface="Times New Roman" panose="02020603050405020304" pitchFamily="18" charset="0"/>
              </a:rPr>
              <a:t> Django (for web application development).</a:t>
            </a:r>
          </a:p>
          <a:p>
            <a:r>
              <a:rPr lang="en-IN" sz="2000" b="1" dirty="0">
                <a:latin typeface="Times New Roman" panose="02020603050405020304" pitchFamily="18" charset="0"/>
                <a:cs typeface="Times New Roman" panose="02020603050405020304" pitchFamily="18" charset="0"/>
              </a:rPr>
              <a:t>Libraries:</a:t>
            </a:r>
            <a:r>
              <a:rPr lang="en-IN" sz="2000" dirty="0">
                <a:latin typeface="Times New Roman" panose="02020603050405020304" pitchFamily="18" charset="0"/>
                <a:cs typeface="Times New Roman" panose="02020603050405020304" pitchFamily="18" charset="0"/>
              </a:rPr>
              <a:t> Pandas, NumPy, Scikit-Learn, Matplotlib, TensorFlow.</a:t>
            </a:r>
          </a:p>
          <a:p>
            <a:r>
              <a:rPr lang="en-IN" sz="2000" b="1" dirty="0">
                <a:latin typeface="Times New Roman" panose="02020603050405020304" pitchFamily="18" charset="0"/>
                <a:cs typeface="Times New Roman" panose="02020603050405020304" pitchFamily="18" charset="0"/>
              </a:rPr>
              <a:t>Database:</a:t>
            </a:r>
            <a:r>
              <a:rPr lang="en-IN" sz="2000" dirty="0">
                <a:latin typeface="Times New Roman" panose="02020603050405020304" pitchFamily="18" charset="0"/>
                <a:cs typeface="Times New Roman" panose="02020603050405020304" pitchFamily="18" charset="0"/>
              </a:rPr>
              <a:t> SQLite (default Django database for user storage).</a:t>
            </a:r>
          </a:p>
          <a:p>
            <a:r>
              <a:rPr lang="en-IN" sz="2000" b="1" dirty="0">
                <a:latin typeface="Times New Roman" panose="02020603050405020304" pitchFamily="18" charset="0"/>
                <a:cs typeface="Times New Roman" panose="02020603050405020304" pitchFamily="18" charset="0"/>
              </a:rPr>
              <a:t>IDE/Editor:</a:t>
            </a:r>
            <a:r>
              <a:rPr lang="en-IN" sz="2000" dirty="0">
                <a:latin typeface="Times New Roman" panose="02020603050405020304" pitchFamily="18" charset="0"/>
                <a:cs typeface="Times New Roman" panose="02020603050405020304" pitchFamily="18" charset="0"/>
              </a:rPr>
              <a:t> PyCharm / VS Code / Jupyter Notebook (for development and testing).</a:t>
            </a:r>
          </a:p>
          <a:p>
            <a:pPr marL="0" indent="0">
              <a:buNone/>
            </a:pPr>
            <a:endParaRPr lang="en-IN" sz="2000" dirty="0">
              <a:latin typeface="Times New Roman" panose="02020603050405020304" pitchFamily="18" charset="0"/>
              <a:cs typeface="Times New Roman" panose="02020603050405020304" pitchFamily="18" charset="0"/>
            </a:endParaRPr>
          </a:p>
          <a:p>
            <a:pPr marL="0" indent="0">
              <a:buNone/>
            </a:pPr>
            <a:r>
              <a:rPr lang="en-IN" sz="2000" b="1" dirty="0">
                <a:latin typeface="Times New Roman" panose="02020603050405020304" pitchFamily="18" charset="0"/>
                <a:cs typeface="Times New Roman" panose="02020603050405020304" pitchFamily="18" charset="0"/>
              </a:rPr>
              <a:t>Hardware Requirements</a:t>
            </a:r>
          </a:p>
          <a:p>
            <a:r>
              <a:rPr lang="en-IN" sz="2000" b="1" dirty="0">
                <a:latin typeface="Times New Roman" panose="02020603050405020304" pitchFamily="18" charset="0"/>
                <a:cs typeface="Times New Roman" panose="02020603050405020304" pitchFamily="18" charset="0"/>
              </a:rPr>
              <a:t>Processor:</a:t>
            </a:r>
            <a:r>
              <a:rPr lang="en-IN" sz="2000" dirty="0">
                <a:latin typeface="Times New Roman" panose="02020603050405020304" pitchFamily="18" charset="0"/>
                <a:cs typeface="Times New Roman" panose="02020603050405020304" pitchFamily="18" charset="0"/>
              </a:rPr>
              <a:t> Intel i3 or higher (multi-core preferred).</a:t>
            </a:r>
          </a:p>
          <a:p>
            <a:r>
              <a:rPr lang="en-IN" sz="2000" b="1" dirty="0">
                <a:latin typeface="Times New Roman" panose="02020603050405020304" pitchFamily="18" charset="0"/>
                <a:cs typeface="Times New Roman" panose="02020603050405020304" pitchFamily="18" charset="0"/>
              </a:rPr>
              <a:t>RAM:</a:t>
            </a:r>
            <a:r>
              <a:rPr lang="en-IN" sz="2000" dirty="0">
                <a:latin typeface="Times New Roman" panose="02020603050405020304" pitchFamily="18" charset="0"/>
                <a:cs typeface="Times New Roman" panose="02020603050405020304" pitchFamily="18" charset="0"/>
              </a:rPr>
              <a:t> Minimum 4 GB (8 GB recommended for smoother ML training).</a:t>
            </a:r>
          </a:p>
          <a:p>
            <a:r>
              <a:rPr lang="en-IN" sz="2000" b="1" dirty="0">
                <a:latin typeface="Times New Roman" panose="02020603050405020304" pitchFamily="18" charset="0"/>
                <a:cs typeface="Times New Roman" panose="02020603050405020304" pitchFamily="18" charset="0"/>
              </a:rPr>
              <a:t>Hard Disk:</a:t>
            </a:r>
            <a:r>
              <a:rPr lang="en-IN" sz="2000" dirty="0">
                <a:latin typeface="Times New Roman" panose="02020603050405020304" pitchFamily="18" charset="0"/>
                <a:cs typeface="Times New Roman" panose="02020603050405020304" pitchFamily="18" charset="0"/>
              </a:rPr>
              <a:t> At least 500 MB free space for dataset, environment, and project files.</a:t>
            </a:r>
          </a:p>
          <a:p>
            <a:r>
              <a:rPr lang="en-IN" sz="2000" b="1" dirty="0">
                <a:latin typeface="Times New Roman" panose="02020603050405020304" pitchFamily="18" charset="0"/>
                <a:cs typeface="Times New Roman" panose="02020603050405020304" pitchFamily="18" charset="0"/>
              </a:rPr>
              <a:t>Internet Connection:</a:t>
            </a:r>
            <a:r>
              <a:rPr lang="en-IN" sz="2000" dirty="0">
                <a:latin typeface="Times New Roman" panose="02020603050405020304" pitchFamily="18" charset="0"/>
                <a:cs typeface="Times New Roman" panose="02020603050405020304" pitchFamily="18" charset="0"/>
              </a:rPr>
              <a:t> Stable connectivity for dependency installation and dataset handling.</a:t>
            </a:r>
          </a:p>
          <a:p>
            <a:pPr marL="0" indent="0">
              <a:buNone/>
            </a:pPr>
            <a:endParaRPr lang="en-IN" sz="2000" dirty="0"/>
          </a:p>
        </p:txBody>
      </p:sp>
    </p:spTree>
    <p:extLst>
      <p:ext uri="{BB962C8B-B14F-4D97-AF65-F5344CB8AC3E}">
        <p14:creationId xmlns:p14="http://schemas.microsoft.com/office/powerpoint/2010/main" val="31352198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9563C2-785F-1AC7-98E4-5D13836802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47A6BE-9F35-E5F3-077A-D4A83EE9821A}"/>
              </a:ext>
            </a:extLst>
          </p:cNvPr>
          <p:cNvSpPr>
            <a:spLocks noGrp="1"/>
          </p:cNvSpPr>
          <p:nvPr>
            <p:ph type="title"/>
          </p:nvPr>
        </p:nvSpPr>
        <p:spPr>
          <a:xfrm>
            <a:off x="1030287" y="11575"/>
            <a:ext cx="10131425" cy="1456267"/>
          </a:xfrm>
        </p:spPr>
        <p:txBody>
          <a:bodyPr/>
          <a:lstStyle/>
          <a:p>
            <a:pPr algn="ctr"/>
            <a:r>
              <a:rPr lang="en-US" b="1" dirty="0">
                <a:latin typeface="Times New Roman" panose="02020603050405020304" pitchFamily="18" charset="0"/>
                <a:cs typeface="Times New Roman" panose="02020603050405020304" pitchFamily="18" charset="0"/>
              </a:rPr>
              <a:t>ARCHITECTURE</a:t>
            </a:r>
            <a:endParaRPr lang="en-IN" b="1"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47D5E2C5-2E92-A8B3-0054-35E4717FB0A4}"/>
              </a:ext>
            </a:extLst>
          </p:cNvPr>
          <p:cNvSpPr>
            <a:spLocks noGrp="1" noChangeArrowheads="1"/>
          </p:cNvSpPr>
          <p:nvPr>
            <p:ph idx="1"/>
          </p:nvPr>
        </p:nvSpPr>
        <p:spPr bwMode="auto">
          <a:xfrm>
            <a:off x="1030287" y="1537528"/>
            <a:ext cx="10131425"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architecture is designed using a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three-tier structure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consisting of the User Interface, Application Logic, and Data Storage layers.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the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Interface layer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users interact through registration, login, dataset viewing, model training, and prediction modules.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Application Logic layer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is powered by Django, handling feature preprocessing, ML model training (Logistic Regression, Decision Tree, Random Forest, TensorFlow), and classification logic.</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Storage layer</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manages datasets and user information using SQLite, while trained models and results are processed dynamically without requiring external storage.</a:t>
            </a:r>
          </a:p>
        </p:txBody>
      </p:sp>
    </p:spTree>
    <p:extLst>
      <p:ext uri="{BB962C8B-B14F-4D97-AF65-F5344CB8AC3E}">
        <p14:creationId xmlns:p14="http://schemas.microsoft.com/office/powerpoint/2010/main" val="13805361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D3ACF9-A63A-EB0F-D864-08C701153D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B6153B6-2BA2-1CA9-6DE9-361295D62DF1}"/>
              </a:ext>
            </a:extLst>
          </p:cNvPr>
          <p:cNvSpPr>
            <a:spLocks noGrp="1"/>
          </p:cNvSpPr>
          <p:nvPr>
            <p:ph type="title"/>
          </p:nvPr>
        </p:nvSpPr>
        <p:spPr>
          <a:xfrm>
            <a:off x="1030287" y="11575"/>
            <a:ext cx="10131425" cy="1456267"/>
          </a:xfrm>
        </p:spPr>
        <p:txBody>
          <a:bodyPr/>
          <a:lstStyle/>
          <a:p>
            <a:pPr algn="ctr"/>
            <a:r>
              <a:rPr lang="en-US" b="1" dirty="0">
                <a:latin typeface="Times New Roman" panose="02020603050405020304" pitchFamily="18" charset="0"/>
                <a:cs typeface="Times New Roman" panose="02020603050405020304" pitchFamily="18" charset="0"/>
              </a:rPr>
              <a:t>modules</a:t>
            </a:r>
            <a:endParaRPr lang="en-IN"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7126A479-8741-5A66-D649-1EECFBF805FC}"/>
              </a:ext>
            </a:extLst>
          </p:cNvPr>
          <p:cNvSpPr>
            <a:spLocks noGrp="1" noChangeArrowheads="1"/>
          </p:cNvSpPr>
          <p:nvPr>
            <p:ph idx="1"/>
          </p:nvPr>
        </p:nvSpPr>
        <p:spPr bwMode="auto">
          <a:xfrm>
            <a:off x="1134319" y="1661826"/>
            <a:ext cx="10027393"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 Module: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Allows new users to register and log in once approved by the admin. Users can view datasets, train models, and make traffic predictions.</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Admin Module: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Manages user approval, ensuring only authorized individuals can use the system. Admin acts as a gatekeeper for system access.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Dataset Module: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Displays the Onion Service traffic dataset stored in CSV format, helping users understand input features used for classification.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Training and Prediction Module: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Provides functionality for model training using Logistic Regression, Decision Tree, and Random Forest, and then allows prediction of traffic type based on input features.</a:t>
            </a:r>
          </a:p>
        </p:txBody>
      </p:sp>
    </p:spTree>
    <p:extLst>
      <p:ext uri="{BB962C8B-B14F-4D97-AF65-F5344CB8AC3E}">
        <p14:creationId xmlns:p14="http://schemas.microsoft.com/office/powerpoint/2010/main" val="17741938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7FD695-9106-7E9D-A9C8-0AF0FAD57D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866B8A-7E46-3ECF-4A49-F747D70CDAC0}"/>
              </a:ext>
            </a:extLst>
          </p:cNvPr>
          <p:cNvSpPr>
            <a:spLocks noGrp="1"/>
          </p:cNvSpPr>
          <p:nvPr>
            <p:ph type="title"/>
          </p:nvPr>
        </p:nvSpPr>
        <p:spPr>
          <a:xfrm>
            <a:off x="1030287" y="11575"/>
            <a:ext cx="10131425" cy="1456267"/>
          </a:xfrm>
        </p:spPr>
        <p:txBody>
          <a:bodyPr/>
          <a:lstStyle/>
          <a:p>
            <a:pPr algn="ctr"/>
            <a:r>
              <a:rPr lang="en-US" b="1" dirty="0">
                <a:latin typeface="Times New Roman" panose="02020603050405020304" pitchFamily="18" charset="0"/>
                <a:cs typeface="Times New Roman" panose="02020603050405020304" pitchFamily="18" charset="0"/>
              </a:rPr>
              <a:t>Architecture DIAGRAM</a:t>
            </a:r>
            <a:endParaRPr lang="en-IN"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D8CE9C20-309D-A778-ECE3-C7D672B5228C}"/>
              </a:ext>
            </a:extLst>
          </p:cNvPr>
          <p:cNvSpPr>
            <a:spLocks noGrp="1" noChangeArrowheads="1"/>
          </p:cNvSpPr>
          <p:nvPr>
            <p:ph idx="1"/>
          </p:nvPr>
        </p:nvSpPr>
        <p:spPr bwMode="auto">
          <a:xfrm>
            <a:off x="648183" y="1378862"/>
            <a:ext cx="5609864"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system architecture is designed around a web interface where users interact through registration, login, and prediction functionalities. This ensures controlled access.</a:t>
            </a:r>
          </a:p>
          <a:p>
            <a:pPr marL="0" marR="0" lvl="0" indent="0" algn="l"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Django backend handles all requests, including dataset viewing, training machine learning models, and returning prediction results to the user.</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dataset is stored in CSV format and read dynamically whenever training is required, ensuring accuracy and consistency in experiments.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database stores only user information and account status, while trained models are kept in memory for lightweight operation and faster results.</a:t>
            </a:r>
          </a:p>
        </p:txBody>
      </p:sp>
      <p:pic>
        <p:nvPicPr>
          <p:cNvPr id="8" name="Picture 7">
            <a:extLst>
              <a:ext uri="{FF2B5EF4-FFF2-40B4-BE49-F238E27FC236}">
                <a16:creationId xmlns:a16="http://schemas.microsoft.com/office/drawing/2014/main" id="{6EDB7D7E-A1C2-E195-2418-F634F0217656}"/>
              </a:ext>
            </a:extLst>
          </p:cNvPr>
          <p:cNvPicPr>
            <a:picLocks noChangeAspect="1"/>
          </p:cNvPicPr>
          <p:nvPr/>
        </p:nvPicPr>
        <p:blipFill>
          <a:blip r:embed="rId2"/>
          <a:stretch>
            <a:fillRect/>
          </a:stretch>
        </p:blipFill>
        <p:spPr>
          <a:xfrm>
            <a:off x="6504059" y="1698959"/>
            <a:ext cx="5272027" cy="4180979"/>
          </a:xfrm>
          <a:prstGeom prst="rect">
            <a:avLst/>
          </a:prstGeom>
        </p:spPr>
      </p:pic>
    </p:spTree>
    <p:extLst>
      <p:ext uri="{BB962C8B-B14F-4D97-AF65-F5344CB8AC3E}">
        <p14:creationId xmlns:p14="http://schemas.microsoft.com/office/powerpoint/2010/main" val="18815820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9832B3-F6E9-161D-4100-D47F707E324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B4C761-09DE-57B4-21D4-F2C146A7635F}"/>
              </a:ext>
            </a:extLst>
          </p:cNvPr>
          <p:cNvSpPr>
            <a:spLocks noGrp="1"/>
          </p:cNvSpPr>
          <p:nvPr>
            <p:ph type="title"/>
          </p:nvPr>
        </p:nvSpPr>
        <p:spPr>
          <a:xfrm>
            <a:off x="1030287" y="11575"/>
            <a:ext cx="10131425" cy="1456267"/>
          </a:xfrm>
        </p:spPr>
        <p:txBody>
          <a:bodyPr/>
          <a:lstStyle/>
          <a:p>
            <a:pPr algn="ctr"/>
            <a:r>
              <a:rPr lang="en-US" b="1" dirty="0">
                <a:latin typeface="Times New Roman" panose="02020603050405020304" pitchFamily="18" charset="0"/>
                <a:cs typeface="Times New Roman" panose="02020603050405020304" pitchFamily="18" charset="0"/>
              </a:rPr>
              <a:t>UML DIAGRAM</a:t>
            </a:r>
            <a:endParaRPr lang="en-IN" b="1"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109E57E1-5421-872B-642A-4A4AB998405A}"/>
              </a:ext>
            </a:extLst>
          </p:cNvPr>
          <p:cNvSpPr>
            <a:spLocks noGrp="1" noChangeArrowheads="1"/>
          </p:cNvSpPr>
          <p:nvPr>
            <p:ph idx="1"/>
          </p:nvPr>
        </p:nvSpPr>
        <p:spPr bwMode="auto">
          <a:xfrm>
            <a:off x="613599" y="1467842"/>
            <a:ext cx="5891374"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activity diagram starts with the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User registration and login process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where users enter details and wait for admin approval.</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If the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Admin approves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user gains access to the main system functions such as dataset viewing, model training, and prediction.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training activity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involves selecting algorithms (Logistic Regression, Decision Tree, Random Forest) and evaluating them on the dataset.</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prediction activity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allows the user to input six features (f1–f6) and obtain results (Onion Service or WTFPAD), completing the workflow.</a:t>
            </a:r>
          </a:p>
        </p:txBody>
      </p:sp>
      <p:pic>
        <p:nvPicPr>
          <p:cNvPr id="6" name="Picture 5" descr="IMG_256">
            <a:extLst>
              <a:ext uri="{FF2B5EF4-FFF2-40B4-BE49-F238E27FC236}">
                <a16:creationId xmlns:a16="http://schemas.microsoft.com/office/drawing/2014/main" id="{F040D4C6-C95E-BA32-3B68-A5141007FE0B}"/>
              </a:ext>
            </a:extLst>
          </p:cNvPr>
          <p:cNvPicPr>
            <a:picLocks noChangeAspect="1"/>
          </p:cNvPicPr>
          <p:nvPr/>
        </p:nvPicPr>
        <p:blipFill>
          <a:blip r:embed="rId2"/>
          <a:stretch>
            <a:fillRect/>
          </a:stretch>
        </p:blipFill>
        <p:spPr>
          <a:xfrm>
            <a:off x="6921661" y="1192192"/>
            <a:ext cx="4656739" cy="5301205"/>
          </a:xfrm>
          <a:prstGeom prst="rect">
            <a:avLst/>
          </a:prstGeom>
          <a:noFill/>
          <a:ln w="9525">
            <a:noFill/>
          </a:ln>
        </p:spPr>
      </p:pic>
    </p:spTree>
    <p:extLst>
      <p:ext uri="{BB962C8B-B14F-4D97-AF65-F5344CB8AC3E}">
        <p14:creationId xmlns:p14="http://schemas.microsoft.com/office/powerpoint/2010/main" val="2316556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9719F4-B894-EC61-B9A2-4C0E89B4AE2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201FA1-D5F2-D43A-4210-C9A90512D5D7}"/>
              </a:ext>
            </a:extLst>
          </p:cNvPr>
          <p:cNvSpPr>
            <a:spLocks noGrp="1"/>
          </p:cNvSpPr>
          <p:nvPr>
            <p:ph type="title"/>
          </p:nvPr>
        </p:nvSpPr>
        <p:spPr>
          <a:xfrm>
            <a:off x="1030287" y="11575"/>
            <a:ext cx="10131425" cy="1456267"/>
          </a:xfrm>
        </p:spPr>
        <p:txBody>
          <a:bodyPr/>
          <a:lstStyle/>
          <a:p>
            <a:pPr algn="ctr"/>
            <a:r>
              <a:rPr lang="en-US" b="1" dirty="0">
                <a:latin typeface="Times New Roman" panose="02020603050405020304" pitchFamily="18" charset="0"/>
                <a:cs typeface="Times New Roman" panose="02020603050405020304" pitchFamily="18" charset="0"/>
              </a:rPr>
              <a:t>Testing</a:t>
            </a:r>
            <a:endParaRPr lang="en-IN" b="1"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4FB58A83-582E-A79B-89B5-FB1B879A1E3D}"/>
              </a:ext>
            </a:extLst>
          </p:cNvPr>
          <p:cNvSpPr>
            <a:spLocks noGrp="1" noChangeArrowheads="1"/>
          </p:cNvSpPr>
          <p:nvPr>
            <p:ph idx="1"/>
          </p:nvPr>
        </p:nvSpPr>
        <p:spPr bwMode="auto">
          <a:xfrm>
            <a:off x="1030287" y="1815477"/>
            <a:ext cx="10131426"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Unit Testing: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Focused on validating each function such as registration form validation, dataset loading, and prediction logic individually.</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Integration Testing: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Ensured smooth communication between modules, for example, between dataset access and the training module.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System Testing: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Verified complete workflows such as user login → dataset view → training → prediction to ensure end-to-end functionality.</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Validation Testing: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Applied checks for user input fields like name, email, mobile, and password to ensure correctness and prevent invalid entries.</a:t>
            </a:r>
          </a:p>
        </p:txBody>
      </p:sp>
    </p:spTree>
    <p:extLst>
      <p:ext uri="{BB962C8B-B14F-4D97-AF65-F5344CB8AC3E}">
        <p14:creationId xmlns:p14="http://schemas.microsoft.com/office/powerpoint/2010/main" val="404419494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50770B-CF43-DFF0-1E6E-89E76C90B1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7F68AA-D95F-0955-5D80-93C92AB75331}"/>
              </a:ext>
            </a:extLst>
          </p:cNvPr>
          <p:cNvSpPr>
            <a:spLocks noGrp="1"/>
          </p:cNvSpPr>
          <p:nvPr>
            <p:ph type="title"/>
          </p:nvPr>
        </p:nvSpPr>
        <p:spPr>
          <a:xfrm>
            <a:off x="1030287" y="11575"/>
            <a:ext cx="10131425" cy="1456267"/>
          </a:xfrm>
        </p:spPr>
        <p:txBody>
          <a:bodyPr/>
          <a:lstStyle/>
          <a:p>
            <a:pPr algn="ctr"/>
            <a:r>
              <a:rPr lang="en-US" b="1" dirty="0">
                <a:latin typeface="Times New Roman" panose="02020603050405020304" pitchFamily="18" charset="0"/>
                <a:cs typeface="Times New Roman" panose="02020603050405020304" pitchFamily="18" charset="0"/>
              </a:rPr>
              <a:t>Future scope</a:t>
            </a:r>
            <a:endParaRPr lang="en-IN" b="1" dirty="0">
              <a:latin typeface="Times New Roman" panose="02020603050405020304" pitchFamily="18" charset="0"/>
              <a:cs typeface="Times New Roman" panose="02020603050405020304" pitchFamily="18" charset="0"/>
            </a:endParaRPr>
          </a:p>
        </p:txBody>
      </p:sp>
      <p:sp>
        <p:nvSpPr>
          <p:cNvPr id="5" name="Rectangle 2">
            <a:extLst>
              <a:ext uri="{FF2B5EF4-FFF2-40B4-BE49-F238E27FC236}">
                <a16:creationId xmlns:a16="http://schemas.microsoft.com/office/drawing/2014/main" id="{1CB8E3D3-3E12-6C6D-4DFB-C09E65610DAD}"/>
              </a:ext>
            </a:extLst>
          </p:cNvPr>
          <p:cNvSpPr>
            <a:spLocks noGrp="1" noChangeArrowheads="1"/>
          </p:cNvSpPr>
          <p:nvPr>
            <p:ph idx="1"/>
          </p:nvPr>
        </p:nvSpPr>
        <p:spPr bwMode="auto">
          <a:xfrm>
            <a:off x="1030287" y="1848055"/>
            <a:ext cx="10131426"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More algorithms such as KNN, Naive Bayes, and SVM can be integrated into the system to compare classification performance across diverse models.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Users should be given the ability to upload and train models on their own datasets, making the platform more flexible and general-purpose.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Training results and prediction histories can be stored in the database, providing long-term tracking and detailed analysis of system performance.</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Real-time classification of live Tor traffic can be integrated into the system, making it a powerful tool for practical darknet monitoring.</a:t>
            </a:r>
          </a:p>
        </p:txBody>
      </p:sp>
    </p:spTree>
    <p:extLst>
      <p:ext uri="{BB962C8B-B14F-4D97-AF65-F5344CB8AC3E}">
        <p14:creationId xmlns:p14="http://schemas.microsoft.com/office/powerpoint/2010/main" val="3687336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69AA5C-1ED8-323E-0063-5B01AECC9AF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0DA926-3DAC-07CB-3ADC-4F0E15480FC6}"/>
              </a:ext>
            </a:extLst>
          </p:cNvPr>
          <p:cNvSpPr>
            <a:spLocks noGrp="1"/>
          </p:cNvSpPr>
          <p:nvPr>
            <p:ph type="title"/>
          </p:nvPr>
        </p:nvSpPr>
        <p:spPr>
          <a:xfrm>
            <a:off x="1030287" y="11575"/>
            <a:ext cx="10131425" cy="1456267"/>
          </a:xfrm>
        </p:spPr>
        <p:txBody>
          <a:bodyPr/>
          <a:lstStyle/>
          <a:p>
            <a:pPr algn="ctr"/>
            <a:r>
              <a:rPr lang="en-US" b="1" dirty="0">
                <a:latin typeface="Times New Roman" panose="02020603050405020304" pitchFamily="18" charset="0"/>
                <a:cs typeface="Times New Roman" panose="02020603050405020304" pitchFamily="18" charset="0"/>
              </a:rPr>
              <a:t>conclusion</a:t>
            </a:r>
            <a:endParaRPr lang="en-IN" b="1"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7645EBDC-7F30-4F24-D1C8-996D94B8843A}"/>
              </a:ext>
            </a:extLst>
          </p:cNvPr>
          <p:cNvSpPr>
            <a:spLocks noGrp="1" noChangeArrowheads="1"/>
          </p:cNvSpPr>
          <p:nvPr>
            <p:ph idx="1"/>
          </p:nvPr>
        </p:nvSpPr>
        <p:spPr bwMode="auto">
          <a:xfrm>
            <a:off x="1030287" y="1848814"/>
            <a:ext cx="10023536" cy="3477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 successfully implemented a system that classifies Onion Service traffic against WTFPAD modified traffic using machine learning techniques.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Logistic Regression, Decision Tree, and Random Forest models were tested and compared, demonstrating good performance in terms of accuracy and precision.</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 Django-based web interface was developed, providing user registration, dataset viewing, training, and prediction features in a single platform.</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This work demonstrates the feasibility of machine learning for darknet traffic analysis and creates a foundation for future research and real-time applications.</a:t>
            </a:r>
          </a:p>
        </p:txBody>
      </p:sp>
    </p:spTree>
    <p:extLst>
      <p:ext uri="{BB962C8B-B14F-4D97-AF65-F5344CB8AC3E}">
        <p14:creationId xmlns:p14="http://schemas.microsoft.com/office/powerpoint/2010/main" val="1455497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FF093-EDE8-2293-DC20-6DCBDBCED24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2400C8-ACB8-96B3-C99E-51D8F2FB8736}"/>
              </a:ext>
            </a:extLst>
          </p:cNvPr>
          <p:cNvSpPr>
            <a:spLocks noGrp="1"/>
          </p:cNvSpPr>
          <p:nvPr>
            <p:ph type="title"/>
          </p:nvPr>
        </p:nvSpPr>
        <p:spPr>
          <a:xfrm>
            <a:off x="1030287" y="85018"/>
            <a:ext cx="10131425" cy="1456267"/>
          </a:xfrm>
        </p:spPr>
        <p:txBody>
          <a:bodyPr/>
          <a:lstStyle/>
          <a:p>
            <a:pPr algn="ctr"/>
            <a:r>
              <a:rPr lang="en-US" b="1" dirty="0">
                <a:latin typeface="Times New Roman" panose="02020603050405020304" pitchFamily="18" charset="0"/>
                <a:cs typeface="Times New Roman" panose="02020603050405020304" pitchFamily="18" charset="0"/>
              </a:rPr>
              <a:t>REFERENCES</a:t>
            </a:r>
            <a:endParaRPr lang="en-IN" b="1" dirty="0">
              <a:latin typeface="Times New Roman" panose="02020603050405020304" pitchFamily="18" charset="0"/>
              <a:cs typeface="Times New Roman" panose="02020603050405020304" pitchFamily="18" charset="0"/>
            </a:endParaRPr>
          </a:p>
        </p:txBody>
      </p:sp>
      <p:sp>
        <p:nvSpPr>
          <p:cNvPr id="4" name="Rectangle 1">
            <a:extLst>
              <a:ext uri="{FF2B5EF4-FFF2-40B4-BE49-F238E27FC236}">
                <a16:creationId xmlns:a16="http://schemas.microsoft.com/office/drawing/2014/main" id="{77CF36F6-B3EE-96C5-74BD-13181FD023FC}"/>
              </a:ext>
            </a:extLst>
          </p:cNvPr>
          <p:cNvSpPr>
            <a:spLocks noGrp="1" noChangeArrowheads="1"/>
          </p:cNvSpPr>
          <p:nvPr>
            <p:ph idx="1"/>
          </p:nvPr>
        </p:nvSpPr>
        <p:spPr bwMode="auto">
          <a:xfrm>
            <a:off x="1030288" y="1541285"/>
            <a:ext cx="10023476"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Panchenko, A. et al. (2016). Website Fingerprinting at Internet Scale. Network and Distributed System Security Symposium (NDSS).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Juarez, M. et al. (2016). Toward an Efficient Website Fingerprinting Defense. European Symposium on Research in Computer Security (ESORICS).</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Sirinam, P. et al. (2018). Deep Fingerprinting: Undermining Website Fingerprinting Defenses with Deep Learning. CCS, ACM.</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Rimmer, V. et al. (2018). Automated Website Fingerprinting through Deep Learning. USENIX Security Symposium.</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Hayes, J. &amp; Danezis, G. (2017). k-Fingerprinting: A Robust Scalable Website Fingerprinting Attack. USENIX Security Symposium.</a:t>
            </a:r>
          </a:p>
          <a:p>
            <a:pPr marL="0" marR="0" lvl="0" indent="0" algn="just" defTabSz="914400" rtl="0" eaLnBrk="0" fontAlgn="base" latinLnBrk="0" hangingPunct="0">
              <a:lnSpc>
                <a:spcPct val="100000"/>
              </a:lnSpc>
              <a:spcBef>
                <a:spcPct val="0"/>
              </a:spcBef>
              <a:spcAft>
                <a:spcPct val="0"/>
              </a:spcAft>
              <a:buClrTx/>
              <a:buSzTx/>
              <a:buFontTx/>
              <a:buChar char="•"/>
              <a:tabLst/>
            </a:pPr>
            <a:endPar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Tools Used: Python, Django, Pandas, Scikit-Learn, Matplotlib.</a:t>
            </a:r>
          </a:p>
        </p:txBody>
      </p:sp>
    </p:spTree>
    <p:extLst>
      <p:ext uri="{BB962C8B-B14F-4D97-AF65-F5344CB8AC3E}">
        <p14:creationId xmlns:p14="http://schemas.microsoft.com/office/powerpoint/2010/main" val="195704735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7B9E8C-45A6-5F04-982F-0A996F06C418}"/>
              </a:ext>
            </a:extLst>
          </p:cNvPr>
          <p:cNvSpPr>
            <a:spLocks noGrp="1"/>
          </p:cNvSpPr>
          <p:nvPr>
            <p:ph type="title"/>
          </p:nvPr>
        </p:nvSpPr>
        <p:spPr>
          <a:xfrm>
            <a:off x="1030287" y="2598656"/>
            <a:ext cx="10131425" cy="1456267"/>
          </a:xfrm>
        </p:spPr>
        <p:txBody>
          <a:bodyPr>
            <a:normAutofit/>
          </a:bodyPr>
          <a:lstStyle/>
          <a:p>
            <a:pPr algn="ctr"/>
            <a:r>
              <a:rPr lang="en-US" sz="4400" dirty="0">
                <a:latin typeface="Times New Roman" panose="02020603050405020304" pitchFamily="18" charset="0"/>
                <a:cs typeface="Times New Roman" panose="02020603050405020304" pitchFamily="18" charset="0"/>
              </a:rPr>
              <a:t>THANK YOU</a:t>
            </a:r>
            <a:endParaRPr lang="en-IN" sz="4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69631977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elestial">
  <a:themeElements>
    <a:clrScheme name="Celestial">
      <a:dk1>
        <a:sysClr val="windowText" lastClr="000000"/>
      </a:dk1>
      <a:lt1>
        <a:sysClr val="window" lastClr="FFFFFF"/>
      </a:lt1>
      <a:dk2>
        <a:srgbClr val="18276C"/>
      </a:dk2>
      <a:lt2>
        <a:srgbClr val="EBEBEB"/>
      </a:lt2>
      <a:accent1>
        <a:srgbClr val="AC3EC1"/>
      </a:accent1>
      <a:accent2>
        <a:srgbClr val="477BD1"/>
      </a:accent2>
      <a:accent3>
        <a:srgbClr val="46B298"/>
      </a:accent3>
      <a:accent4>
        <a:srgbClr val="90BA4C"/>
      </a:accent4>
      <a:accent5>
        <a:srgbClr val="DD9D31"/>
      </a:accent5>
      <a:accent6>
        <a:srgbClr val="E25247"/>
      </a:accent6>
      <a:hlink>
        <a:srgbClr val="C573D2"/>
      </a:hlink>
      <a:folHlink>
        <a:srgbClr val="CCAEE8"/>
      </a:folHlink>
    </a:clrScheme>
    <a:fontScheme name="Celestial">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elestial">
      <a:fillStyleLst>
        <a:solidFill>
          <a:schemeClr val="phClr"/>
        </a:solidFill>
        <a:gradFill rotWithShape="1">
          <a:gsLst>
            <a:gs pos="0">
              <a:schemeClr val="phClr">
                <a:tint val="70000"/>
                <a:lumMod val="110000"/>
              </a:schemeClr>
            </a:gs>
            <a:gs pos="100000">
              <a:schemeClr val="phClr">
                <a:tint val="82000"/>
                <a:alpha val="74000"/>
              </a:schemeClr>
            </a:gs>
          </a:gsLst>
          <a:lin ang="5400000" scaled="0"/>
        </a:gradFill>
        <a:gradFill rotWithShape="1">
          <a:gsLst>
            <a:gs pos="0">
              <a:schemeClr val="phClr">
                <a:tint val="98000"/>
                <a:lumMod val="100000"/>
              </a:schemeClr>
            </a:gs>
            <a:gs pos="100000">
              <a:schemeClr val="phClr">
                <a:shade val="88000"/>
                <a:lumMod val="88000"/>
              </a:schemeClr>
            </a:gs>
          </a:gsLst>
          <a:lin ang="5400000" scaled="1"/>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50800" dist="38100" dir="5400000" rotWithShape="0">
              <a:srgbClr val="000000">
                <a:alpha val="35000"/>
              </a:srgbClr>
            </a:outerShdw>
          </a:effectLst>
        </a:effectStyle>
        <a:effectStyle>
          <a:effectLst>
            <a:outerShdw blurRad="63500" dist="38100" dir="5400000" rotWithShape="0">
              <a:srgbClr val="000000">
                <a:alpha val="65000"/>
              </a:srgbClr>
            </a:outerShdw>
          </a:effectLst>
          <a:scene3d>
            <a:camera prst="orthographicFront">
              <a:rot lat="0" lon="0" rev="0"/>
            </a:camera>
            <a:lightRig rig="threePt" dir="tl">
              <a:rot lat="0" lon="0" rev="1200000"/>
            </a:lightRig>
          </a:scene3d>
          <a:sp3d>
            <a:bevelT w="38100" h="12700"/>
          </a:sp3d>
        </a:effectStyle>
      </a:effectStyleLst>
      <a:bgFillStyleLst>
        <a:solidFill>
          <a:schemeClr val="phClr"/>
        </a:solidFill>
        <a:gradFill rotWithShape="1">
          <a:gsLst>
            <a:gs pos="0">
              <a:schemeClr val="phClr">
                <a:tint val="90000"/>
                <a:shade val="96000"/>
                <a:hueMod val="100000"/>
                <a:satMod val="180000"/>
                <a:lumMod val="110000"/>
              </a:schemeClr>
            </a:gs>
            <a:gs pos="100000">
              <a:schemeClr val="phClr">
                <a:shade val="96000"/>
                <a:satMod val="160000"/>
                <a:lumMod val="100000"/>
              </a:schemeClr>
            </a:gs>
          </a:gsLst>
          <a:lin ang="4740000" scaled="1"/>
        </a:gradFill>
        <a:blipFill>
          <a:blip xmlns:r="http://schemas.openxmlformats.org/officeDocument/2006/relationships" r:embed="rId1"/>
          <a:stretch/>
        </a:blipFill>
      </a:bgFillStyleLst>
    </a:fmtScheme>
  </a:themeElements>
  <a:objectDefaults/>
  <a:extraClrSchemeLst/>
  <a:extLst>
    <a:ext uri="{05A4C25C-085E-4340-85A3-A5531E510DB2}">
      <thm15:themeFamily xmlns:thm15="http://schemas.microsoft.com/office/thememl/2012/main" name="Celestial" id="{C4BB2A3D-0E93-4C5F-B0D2-9D3FCE089CC5}" vid="{42E5908D-19A2-46FD-89FA-638B126129EF}"/>
    </a:ext>
  </a:extLst>
</a:theme>
</file>

<file path=docProps/app.xml><?xml version="1.0" encoding="utf-8"?>
<Properties xmlns="http://schemas.openxmlformats.org/officeDocument/2006/extended-properties" xmlns:vt="http://schemas.openxmlformats.org/officeDocument/2006/docPropsVTypes">
  <Template>{50568982-4390-4D8E-930C-ED7C1FCFD517}tf03457452</Template>
  <TotalTime>169</TotalTime>
  <Words>1515</Words>
  <Application>Microsoft Office PowerPoint</Application>
  <PresentationFormat>Widescreen</PresentationFormat>
  <Paragraphs>119</Paragraphs>
  <Slides>15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Arial</vt:lpstr>
      <vt:lpstr>Calibri</vt:lpstr>
      <vt:lpstr>Calibri Light</vt:lpstr>
      <vt:lpstr>Times New Roman</vt:lpstr>
      <vt:lpstr>Celestial</vt:lpstr>
      <vt:lpstr>Darknet Traffic Analysis Investigating the Impact of Modified Tor Traffic on Onion Service Traffic Classification</vt:lpstr>
      <vt:lpstr>ABSTRACT</vt:lpstr>
      <vt:lpstr>EXISTING SYSTEM</vt:lpstr>
      <vt:lpstr>REVIEW OF LITERATURE</vt:lpstr>
      <vt:lpstr>PROPOSED SYSTEM</vt:lpstr>
      <vt:lpstr>PowerPoint Presentation</vt:lpstr>
      <vt:lpstr>ARCHITECTURE</vt:lpstr>
      <vt:lpstr>modules</vt:lpstr>
      <vt:lpstr>Architecture DIAGRAM</vt:lpstr>
      <vt:lpstr>UML DIAGRAM</vt:lpstr>
      <vt:lpstr>Testing</vt:lpstr>
      <vt:lpstr>Future scope</vt:lpstr>
      <vt:lpstr>conclusion</vt:lpstr>
      <vt:lpstr>REFERENCES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Akshitha Vangari</dc:creator>
  <cp:lastModifiedBy>Akshitha Vangari</cp:lastModifiedBy>
  <cp:revision>6</cp:revision>
  <dcterms:created xsi:type="dcterms:W3CDTF">2025-08-22T09:02:46Z</dcterms:created>
  <dcterms:modified xsi:type="dcterms:W3CDTF">2025-08-22T16:37:12Z</dcterms:modified>
</cp:coreProperties>
</file>