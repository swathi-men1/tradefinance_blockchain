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34" r:id="rId2"/>
    <p:sldId id="335" r:id="rId3"/>
    <p:sldId id="775" r:id="rId4"/>
    <p:sldId id="760" r:id="rId5"/>
    <p:sldId id="761" r:id="rId6"/>
    <p:sldId id="762" r:id="rId7"/>
    <p:sldId id="764" r:id="rId8"/>
    <p:sldId id="765" r:id="rId9"/>
    <p:sldId id="766" r:id="rId10"/>
    <p:sldId id="768" r:id="rId11"/>
    <p:sldId id="770" r:id="rId12"/>
    <p:sldId id="771" r:id="rId13"/>
    <p:sldId id="772" r:id="rId14"/>
    <p:sldId id="773" r:id="rId15"/>
    <p:sldId id="774" r:id="rId16"/>
    <p:sldId id="776" r:id="rId17"/>
    <p:sldId id="777" r:id="rId18"/>
    <p:sldId id="778" r:id="rId19"/>
    <p:sldId id="779" r:id="rId20"/>
    <p:sldId id="780" r:id="rId21"/>
    <p:sldId id="781" r:id="rId22"/>
    <p:sldId id="75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BF04D-CEA8-4D00-8035-408A9CD0F189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ECE90-A6DC-4A85-8DD7-956750CD4E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343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06A1-A93C-5EAF-166E-14B3E0BA1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F0286-A884-42D0-291E-FB3856E0D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20F41-A150-31C7-0920-8DA3FABB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C5666-F6B2-C945-8530-B7BCD23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517EC-8C6E-37E1-23BD-F5C08B22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96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8D1E-D683-B700-5751-1D65EB040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19B80-C124-AE4F-36F4-EF707E74F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5D654-0B8E-2231-A8FC-2F0FA9D2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362DA-FE6A-44D7-E0AA-D1B671DF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4CF6B-CD54-BD8A-88CC-ED969FEF5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88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16D98-192A-6C93-E988-35EB02BDB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F2D47-E333-2048-CADF-D2E88D9BC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1961C-78A7-2346-6CCE-E7A30525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FF2E5-7AAE-6861-8E9A-58430185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4BD24-CD16-7870-3DB5-31447FAE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54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B3734-496C-BCC7-B434-90256D54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7A470-3DA3-5202-7AF3-9240FE26A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60E04-D429-2342-EFE3-2296B8A46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FF5C3-4E41-8C77-89A7-D528473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8044C-5E83-2C09-CA9E-0B51C3121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EED8F-1000-A609-FCE3-E542F3C0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959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D9F4-243A-0E56-613E-B6B70943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62434-7C5F-FCF3-7B9E-FF3A76D00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58F9B-387E-B3B0-3597-BB918AB01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017A96-B575-9C5C-28B5-AB21E5448E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77F11-0849-4D15-ED10-E047D85CA0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C5FF1F-307C-07BC-E2C2-413EE7FB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8A2CF-DFC2-879A-10EB-055CE3AB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87BCB-0FBF-DB8A-89D2-FBA8F575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07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0E9D-AA22-B614-D4C8-76658555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8409A-0843-ECF2-F107-E58B8DBA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1DA0D-482A-D747-2F6A-CDF5E2DF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20510-D661-8B07-6E1E-267FBD7C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92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5D5A27-1EED-C4F9-EC2F-4BB257B7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51F81-A545-C017-EE6D-7E3577D05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8C3F4-06F9-4785-51E6-03DDD4DE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14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5CA0-8BC3-8A41-3B5F-D8BA967D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4771C-674E-4228-81C8-98F5C6136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DAA6A-B385-704B-EFFF-E6408AC7F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95DEA-DA31-3066-356F-826B7F46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92F95-F298-B0ED-E75B-B9FD60B2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85488-FCDD-9215-631B-B43C7731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734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F8BE-8526-5412-7F94-14FD3618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0F999-93CB-7932-C743-B2A2EC65E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DC0AB-6565-5CB5-3A65-ABA1D50D5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14DEC-D6BC-C856-F839-C5E98A4E1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17BD3-8483-2172-7CAE-435859C3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25DBC-F32C-B5E3-7202-FE737F9B1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95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6B873-D42E-07C4-D2E5-346733B47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FB344-8E06-0B1B-879B-F005E53DE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C45D3-3087-397F-4D19-C911112D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73A03-4528-D464-9FA4-51D2A883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6CC0C-2BC1-AA35-43C8-9C2D8E42A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30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33AC04-4FBF-719E-6013-E3016454A3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420C7-4BD3-50C3-3FAA-6D52E031B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D4EA7-9764-B355-1334-5D5735AA0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FFCBB-2847-A4BB-BB73-B599E442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B3663-8A4D-646B-D981-C4F17E3C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571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76D96-60BF-BFF5-81C7-AB26A2F44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B97A6-C38B-3A3F-B41F-415C547CE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6F96B-A2C6-A05F-03A8-73DD14F54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01DAA-76CA-41C2-B7DE-06B340E10926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850BF-5FB1-361A-0430-0F772ABBD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57294-48BD-0F46-73B2-90845F6B3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71FF0-8985-4E09-995F-54DA248F23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13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ppr.com/ask/topic-questions/2538499/medium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ppr.com/ask/topic-questions/3681995/medium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320B32D-091A-3A08-2DB5-5976851AE0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9" t="18276" r="16207" b="16551"/>
          <a:stretch/>
        </p:blipFill>
        <p:spPr>
          <a:xfrm>
            <a:off x="10509963" y="5079154"/>
            <a:ext cx="1535723" cy="15860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9368F5-103C-5A63-9102-D10A59BC7986}"/>
              </a:ext>
            </a:extLst>
          </p:cNvPr>
          <p:cNvSpPr/>
          <p:nvPr/>
        </p:nvSpPr>
        <p:spPr>
          <a:xfrm>
            <a:off x="105272" y="126473"/>
            <a:ext cx="11940414" cy="660505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138C62D0-8483-3C71-C497-EB0F84177864}"/>
              </a:ext>
            </a:extLst>
          </p:cNvPr>
          <p:cNvSpPr txBox="1">
            <a:spLocks/>
          </p:cNvSpPr>
          <p:nvPr/>
        </p:nvSpPr>
        <p:spPr>
          <a:xfrm>
            <a:off x="1020059" y="2857824"/>
            <a:ext cx="10110840" cy="1142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b="1" u="sng" dirty="0">
                <a:solidFill>
                  <a:schemeClr val="accent1">
                    <a:lumMod val="75000"/>
                  </a:schemeClr>
                </a:solidFill>
                <a:latin typeface="Houschka Rounded Alt DemiBold" panose="020F0703000000020003" pitchFamily="34" charset="0"/>
              </a:rPr>
              <a:t>Area, Volume &amp; Mensuration</a:t>
            </a:r>
          </a:p>
        </p:txBody>
      </p:sp>
    </p:spTree>
    <p:extLst>
      <p:ext uri="{BB962C8B-B14F-4D97-AF65-F5344CB8AC3E}">
        <p14:creationId xmlns:p14="http://schemas.microsoft.com/office/powerpoint/2010/main" val="988809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F05409-B7CF-A8D5-6AC9-54B61EFC7C32}"/>
              </a:ext>
            </a:extLst>
          </p:cNvPr>
          <p:cNvSpPr txBox="1"/>
          <p:nvPr/>
        </p:nvSpPr>
        <p:spPr>
          <a:xfrm>
            <a:off x="4979876" y="162829"/>
            <a:ext cx="223224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u="sng" dirty="0">
                <a:solidFill>
                  <a:schemeClr val="accent5">
                    <a:lumMod val="75000"/>
                  </a:schemeClr>
                </a:solidFill>
              </a:rPr>
              <a:t>Concept</a:t>
            </a:r>
          </a:p>
        </p:txBody>
      </p:sp>
      <p:pic>
        <p:nvPicPr>
          <p:cNvPr id="5" name="Picture 4" descr="Symmetry of a Square | Ian Maurer">
            <a:extLst>
              <a:ext uri="{FF2B5EF4-FFF2-40B4-BE49-F238E27FC236}">
                <a16:creationId xmlns:a16="http://schemas.microsoft.com/office/drawing/2014/main" id="{D1F6076A-23FB-7272-12F2-D3B2D07F5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74" y="434013"/>
            <a:ext cx="1924050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601,412 Cube Stock Photos, Images | Download Cube Pictures on Depositphotos®">
            <a:extLst>
              <a:ext uri="{FF2B5EF4-FFF2-40B4-BE49-F238E27FC236}">
                <a16:creationId xmlns:a16="http://schemas.microsoft.com/office/drawing/2014/main" id="{E21E429E-03D5-D120-0775-1E4CC900D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3839" y="125815"/>
            <a:ext cx="223224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017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Free Blue Rectangle Cliparts, Download Free Blue Rectangle Cliparts png  images, Free ClipArts on Clipart Library">
            <a:extLst>
              <a:ext uri="{FF2B5EF4-FFF2-40B4-BE49-F238E27FC236}">
                <a16:creationId xmlns:a16="http://schemas.microsoft.com/office/drawing/2014/main" id="{60E316E4-74F8-8F67-F3AF-9C6F2AE3A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26" y="462377"/>
            <a:ext cx="271462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A4BF3CC4-F7EC-AE7F-E6FC-0B4FC89D4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274" y="462377"/>
            <a:ext cx="3467100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73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lue Circle Free Stock Photo - Public Domain Pictures">
            <a:extLst>
              <a:ext uri="{FF2B5EF4-FFF2-40B4-BE49-F238E27FC236}">
                <a16:creationId xmlns:a16="http://schemas.microsoft.com/office/drawing/2014/main" id="{16B70C7C-2FD1-E919-A316-598963E90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2179"/>
            <a:ext cx="19431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Blue cylinder Icons PNG - Free PNG and Icons Downloads">
            <a:extLst>
              <a:ext uri="{FF2B5EF4-FFF2-40B4-BE49-F238E27FC236}">
                <a16:creationId xmlns:a16="http://schemas.microsoft.com/office/drawing/2014/main" id="{E8B4B6FA-734E-04E4-994B-578AC1E86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9400" y="51229"/>
            <a:ext cx="138112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62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lue triangle icon - Free blue shape icons">
            <a:extLst>
              <a:ext uri="{FF2B5EF4-FFF2-40B4-BE49-F238E27FC236}">
                <a16:creationId xmlns:a16="http://schemas.microsoft.com/office/drawing/2014/main" id="{C3C2AB13-39F4-26CD-4D70-0D84801AA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93" y="238527"/>
            <a:ext cx="200025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lue Cone Party Hats - 8 Pack - Upper Sturt General Store">
            <a:extLst>
              <a:ext uri="{FF2B5EF4-FFF2-40B4-BE49-F238E27FC236}">
                <a16:creationId xmlns:a16="http://schemas.microsoft.com/office/drawing/2014/main" id="{DCC61B7E-36A2-BE9B-3126-D7014EE6F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9820" y="238527"/>
            <a:ext cx="2300286" cy="200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94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lip Art Shaded Sphere - Blue Sphere Transparent Background , Free  Transparent Clipart - ClipartKey">
            <a:extLst>
              <a:ext uri="{FF2B5EF4-FFF2-40B4-BE49-F238E27FC236}">
                <a16:creationId xmlns:a16="http://schemas.microsoft.com/office/drawing/2014/main" id="{506DA366-2F53-BB14-111C-ECC9C2CFE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73" y="477054"/>
            <a:ext cx="2001598" cy="209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Which are the examples of a hemisphere? - Quora">
            <a:extLst>
              <a:ext uri="{FF2B5EF4-FFF2-40B4-BE49-F238E27FC236}">
                <a16:creationId xmlns:a16="http://schemas.microsoft.com/office/drawing/2014/main" id="{6E83CEE9-CA65-682D-F544-6F9C1BF57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280" y="1383782"/>
            <a:ext cx="1655365" cy="118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92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9A2437-7FAD-9371-5565-DA31AA779B4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45686" cy="67756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500" dirty="0">
                <a:solidFill>
                  <a:srgbClr val="000000"/>
                </a:solidFill>
                <a:latin typeface="Manrope"/>
              </a:rPr>
              <a:t>1. The ratio between the length and the breadth of a rectangular park is 3 : 2. If a man cycling along the boundary of the park at the speed of 12 km/</a:t>
            </a:r>
            <a:r>
              <a:rPr lang="en-US" sz="3500" dirty="0" err="1">
                <a:solidFill>
                  <a:srgbClr val="000000"/>
                </a:solidFill>
                <a:latin typeface="Manrope"/>
              </a:rPr>
              <a:t>hr</a:t>
            </a:r>
            <a:r>
              <a:rPr lang="en-US" sz="3500" dirty="0">
                <a:solidFill>
                  <a:srgbClr val="000000"/>
                </a:solidFill>
                <a:latin typeface="Manrope"/>
              </a:rPr>
              <a:t> completes one round in 8 minutes, then the area of the park (in sq. m) is:</a:t>
            </a:r>
          </a:p>
          <a:p>
            <a:pPr algn="just"/>
            <a:endParaRPr lang="en-US" sz="3500" dirty="0">
              <a:solidFill>
                <a:srgbClr val="000000"/>
              </a:solidFill>
              <a:latin typeface="Manrope"/>
            </a:endParaRPr>
          </a:p>
          <a:p>
            <a:pPr marL="514350" indent="-514350" algn="just">
              <a:buAutoNum type="alphaUcPeriod"/>
            </a:pPr>
            <a:r>
              <a:rPr lang="en-US" sz="3500" dirty="0">
                <a:solidFill>
                  <a:srgbClr val="000000"/>
                </a:solidFill>
                <a:latin typeface="Manrope"/>
              </a:rPr>
              <a:t>15360</a:t>
            </a:r>
          </a:p>
          <a:p>
            <a:pPr marL="514350" indent="-514350" algn="just">
              <a:buAutoNum type="alphaUcPeriod"/>
            </a:pPr>
            <a:r>
              <a:rPr lang="en-US" sz="3500" dirty="0">
                <a:solidFill>
                  <a:srgbClr val="000000"/>
                </a:solidFill>
                <a:latin typeface="Manrope"/>
              </a:rPr>
              <a:t>153600</a:t>
            </a:r>
          </a:p>
          <a:p>
            <a:pPr marL="514350" indent="-514350" algn="just">
              <a:buAutoNum type="alphaUcPeriod"/>
            </a:pPr>
            <a:r>
              <a:rPr lang="en-US" sz="3500" dirty="0">
                <a:solidFill>
                  <a:srgbClr val="000000"/>
                </a:solidFill>
                <a:latin typeface="Manrope"/>
              </a:rPr>
              <a:t>30720</a:t>
            </a:r>
          </a:p>
          <a:p>
            <a:pPr marL="514350" indent="-514350" algn="l">
              <a:buAutoNum type="alphaUcPeriod"/>
            </a:pPr>
            <a:r>
              <a:rPr lang="en-US" sz="3500" dirty="0">
                <a:solidFill>
                  <a:srgbClr val="000000"/>
                </a:solidFill>
                <a:latin typeface="Manrope"/>
              </a:rPr>
              <a:t>307200</a:t>
            </a:r>
            <a:br>
              <a:rPr lang="en-US" sz="3500" dirty="0">
                <a:solidFill>
                  <a:srgbClr val="1F8FFB"/>
                </a:solidFill>
                <a:latin typeface="Manrope"/>
                <a:hlinkClick r:id="rId2"/>
              </a:rPr>
            </a:b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155019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EE04E0-945C-A58E-14D7-760DFA045CB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45686" cy="6775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/>
            <a:r>
              <a:rPr lang="en-US" sz="3500" dirty="0">
                <a:latin typeface="Open Sans" panose="020B0606030504020204" pitchFamily="34" charset="0"/>
              </a:rPr>
              <a:t>2. The length of a rectangle is halved, while its breadth is tripled. What is the percentage change in area?</a:t>
            </a:r>
          </a:p>
          <a:p>
            <a:pPr algn="just" fontAlgn="base"/>
            <a:endParaRPr lang="en-US" sz="3500" dirty="0">
              <a:latin typeface="Open Sans" panose="020B0606030504020204" pitchFamily="34" charset="0"/>
            </a:endParaRPr>
          </a:p>
          <a:p>
            <a:pPr algn="just" fontAlgn="base"/>
            <a:r>
              <a:rPr lang="en-US" sz="3500" dirty="0">
                <a:latin typeface="inherit"/>
              </a:rPr>
              <a:t>A.</a:t>
            </a:r>
            <a:r>
              <a:rPr lang="en-US" sz="3500" dirty="0">
                <a:latin typeface="Open Sans" panose="020B0606030504020204" pitchFamily="34" charset="0"/>
              </a:rPr>
              <a:t> 25% increase</a:t>
            </a:r>
          </a:p>
          <a:p>
            <a:pPr algn="just" fontAlgn="base"/>
            <a:r>
              <a:rPr lang="en-US" sz="3500" dirty="0">
                <a:latin typeface="inherit"/>
              </a:rPr>
              <a:t>B.</a:t>
            </a:r>
            <a:r>
              <a:rPr lang="en-US" sz="3500" dirty="0">
                <a:latin typeface="Open Sans" panose="020B0606030504020204" pitchFamily="34" charset="0"/>
              </a:rPr>
              <a:t> 50% increase</a:t>
            </a:r>
          </a:p>
          <a:p>
            <a:pPr algn="just" fontAlgn="base"/>
            <a:r>
              <a:rPr lang="en-US" sz="3500" dirty="0">
                <a:latin typeface="inherit"/>
              </a:rPr>
              <a:t>C.</a:t>
            </a:r>
            <a:r>
              <a:rPr lang="en-US" sz="3500" dirty="0">
                <a:latin typeface="Open Sans" panose="020B0606030504020204" pitchFamily="34" charset="0"/>
              </a:rPr>
              <a:t> 50% decrease</a:t>
            </a:r>
          </a:p>
          <a:p>
            <a:pPr algn="just" fontAlgn="base"/>
            <a:r>
              <a:rPr lang="en-US" sz="3500" dirty="0">
                <a:latin typeface="inherit"/>
              </a:rPr>
              <a:t>D.</a:t>
            </a:r>
            <a:r>
              <a:rPr lang="en-US" sz="3500" dirty="0">
                <a:latin typeface="Open Sans" panose="020B0606030504020204" pitchFamily="34" charset="0"/>
              </a:rPr>
              <a:t> 75% decrease</a:t>
            </a:r>
          </a:p>
          <a:p>
            <a:pPr algn="just" fontAlgn="base"/>
            <a:r>
              <a:rPr lang="en-US" sz="3500" dirty="0">
                <a:latin typeface="inherit"/>
              </a:rPr>
              <a:t>E.</a:t>
            </a:r>
            <a:r>
              <a:rPr lang="en-US" sz="3500" dirty="0">
                <a:latin typeface="Open Sans" panose="020B0606030504020204" pitchFamily="34" charset="0"/>
              </a:rPr>
              <a:t> None of these</a:t>
            </a:r>
          </a:p>
          <a:p>
            <a:pPr algn="just"/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2196719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A2B699-F94C-D115-740A-4D42290C58F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45686" cy="6775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500" dirty="0"/>
              <a:t>3. </a:t>
            </a: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</a:rPr>
              <a:t>The edges of the cuboid are in the ratio 1:2:3 and its surface area is 88 cm . Volume of cuboid is ?</a:t>
            </a:r>
          </a:p>
          <a:p>
            <a:pPr algn="just"/>
            <a:endParaRPr lang="en-IN" sz="3500" dirty="0"/>
          </a:p>
          <a:p>
            <a:pPr marL="457200" indent="-457200" algn="just">
              <a:buFont typeface="Arial" panose="020B0604020202020204" pitchFamily="34" charset="0"/>
              <a:buAutoNum type="alphaUcParenR"/>
            </a:pPr>
            <a:r>
              <a:rPr lang="en-IN" sz="3500" dirty="0"/>
              <a:t>24 cu. cm</a:t>
            </a:r>
          </a:p>
          <a:p>
            <a:pPr marL="457200" indent="-457200" algn="just">
              <a:buFont typeface="Arial" panose="020B0604020202020204" pitchFamily="34" charset="0"/>
              <a:buAutoNum type="alphaUcParenR"/>
            </a:pPr>
            <a:r>
              <a:rPr lang="en-IN" sz="3500" dirty="0"/>
              <a:t>48 cu. cm</a:t>
            </a:r>
          </a:p>
          <a:p>
            <a:pPr marL="457200" indent="-457200" algn="just">
              <a:buFont typeface="Arial" panose="020B0604020202020204" pitchFamily="34" charset="0"/>
              <a:buAutoNum type="alphaUcParenR"/>
            </a:pPr>
            <a:r>
              <a:rPr lang="en-IN" sz="3500" dirty="0"/>
              <a:t>64 cu. cm</a:t>
            </a:r>
          </a:p>
          <a:p>
            <a:pPr marL="457200" indent="-457200" algn="just">
              <a:buFont typeface="Arial" panose="020B0604020202020204" pitchFamily="34" charset="0"/>
              <a:buAutoNum type="alphaUcParenR"/>
            </a:pPr>
            <a:r>
              <a:rPr lang="en-IN" sz="3500" dirty="0"/>
              <a:t>120 cu. cm</a:t>
            </a:r>
          </a:p>
        </p:txBody>
      </p:sp>
    </p:spTree>
    <p:extLst>
      <p:ext uri="{BB962C8B-B14F-4D97-AF65-F5344CB8AC3E}">
        <p14:creationId xmlns:p14="http://schemas.microsoft.com/office/powerpoint/2010/main" val="925850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EE7F3A-E702-4B6D-0A5C-FDC452A8EEF1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045686" cy="6665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500" dirty="0"/>
              <a:t>5. </a:t>
            </a:r>
            <a:r>
              <a:rPr lang="en-US" sz="3500" dirty="0">
                <a:solidFill>
                  <a:srgbClr val="2A2A2A"/>
                </a:solidFill>
                <a:latin typeface="objektiv-mk3"/>
              </a:rPr>
              <a:t>A rectangular park 60 m long and 40 m wide has two concrete crossroads running in the middle of the park and rest of the park has been used as a lawn. If the area of the lawn is 2109 sq. m, then what is the width of the road?</a:t>
            </a:r>
          </a:p>
          <a:p>
            <a:pPr algn="just"/>
            <a:endParaRPr lang="en-US" sz="3500" dirty="0">
              <a:solidFill>
                <a:srgbClr val="2A2A2A"/>
              </a:solidFill>
              <a:latin typeface="objektiv-mk3"/>
            </a:endParaRPr>
          </a:p>
          <a:p>
            <a:pPr marL="514350" indent="-514350" algn="just">
              <a:buFont typeface="Arial" panose="020B0604020202020204" pitchFamily="34" charset="0"/>
              <a:buAutoNum type="alphaUcParenR"/>
            </a:pPr>
            <a:r>
              <a:rPr lang="en-US" sz="3500" dirty="0">
                <a:solidFill>
                  <a:srgbClr val="2A2A2A"/>
                </a:solidFill>
                <a:latin typeface="objektiv-mk3"/>
              </a:rPr>
              <a:t>1</a:t>
            </a:r>
          </a:p>
          <a:p>
            <a:pPr marL="514350" indent="-514350" algn="just">
              <a:buFont typeface="Arial" panose="020B0604020202020204" pitchFamily="34" charset="0"/>
              <a:buAutoNum type="alphaUcParenR"/>
            </a:pPr>
            <a:r>
              <a:rPr lang="en-US" sz="3500" dirty="0">
                <a:solidFill>
                  <a:srgbClr val="2A2A2A"/>
                </a:solidFill>
                <a:latin typeface="objektiv-mk3"/>
              </a:rPr>
              <a:t>3</a:t>
            </a:r>
          </a:p>
          <a:p>
            <a:pPr marL="514350" indent="-514350" algn="just">
              <a:buFont typeface="Arial" panose="020B0604020202020204" pitchFamily="34" charset="0"/>
              <a:buAutoNum type="alphaUcParenR"/>
            </a:pPr>
            <a:r>
              <a:rPr lang="en-US" sz="3500" dirty="0">
                <a:solidFill>
                  <a:srgbClr val="2A2A2A"/>
                </a:solidFill>
                <a:latin typeface="objektiv-mk3"/>
              </a:rPr>
              <a:t>2</a:t>
            </a:r>
          </a:p>
          <a:p>
            <a:pPr marL="514350" indent="-514350" algn="just">
              <a:buFont typeface="Arial" panose="020B0604020202020204" pitchFamily="34" charset="0"/>
              <a:buAutoNum type="alphaUcParenR"/>
            </a:pPr>
            <a:r>
              <a:rPr lang="en-US" sz="3500" dirty="0">
                <a:solidFill>
                  <a:srgbClr val="2A2A2A"/>
                </a:solidFill>
                <a:latin typeface="objektiv-mk3"/>
              </a:rPr>
              <a:t>4</a:t>
            </a:r>
            <a:r>
              <a:rPr lang="en-US" sz="3500" dirty="0"/>
              <a:t> 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3710269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DF3C95F-CF23-876D-B7E7-F112E52BA2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0"/>
                <a:ext cx="12045686" cy="67756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sz="3500" dirty="0">
                    <a:latin typeface="Arial" panose="020B0604020202020204" pitchFamily="34" charset="0"/>
                    <a:cs typeface="Arial" panose="020B0604020202020204" pitchFamily="34" charset="0"/>
                  </a:rPr>
                  <a:t>7. </a:t>
                </a:r>
                <a:r>
                  <a:rPr lang="en-US" sz="35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the area of the rhombus having each side equal to 17 cm and one of its diagonals equal to 16 cm.</a:t>
                </a:r>
              </a:p>
              <a:p>
                <a:pPr algn="just"/>
                <a:endParaRPr lang="en-US" sz="35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 algn="just">
                  <a:buAutoNum type="alphaUcPeriod"/>
                </a:pPr>
                <a:r>
                  <a:rPr lang="en-US" sz="350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120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35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en-IN" sz="3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35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en-IN" sz="35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3500" b="0" dirty="0">
                  <a:solidFill>
                    <a:srgbClr val="00000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endParaRPr>
              </a:p>
              <a:p>
                <a:pPr marL="514350" indent="-514350" algn="just">
                  <a:buAutoNum type="alphaUcPeriod"/>
                </a:pPr>
                <a:r>
                  <a:rPr lang="en-IN" sz="3500" dirty="0"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240</a:t>
                </a:r>
                <a:r>
                  <a:rPr lang="en-US" sz="350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35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en-IN" sz="3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35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en-IN" sz="35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35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endParaRPr>
              </a:p>
              <a:p>
                <a:pPr marL="514350" indent="-514350" algn="just">
                  <a:buAutoNum type="alphaUcPeriod"/>
                </a:pPr>
                <a:r>
                  <a:rPr lang="en-IN" sz="3500" dirty="0"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360</a:t>
                </a:r>
                <a:r>
                  <a:rPr lang="en-US" sz="350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35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sSup>
                      <m:sSupPr>
                        <m:ctrlPr>
                          <a:rPr lang="en-IN" sz="3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35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</m:t>
                        </m:r>
                      </m:e>
                      <m:sup>
                        <m:r>
                          <a:rPr lang="en-IN" sz="35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3500" dirty="0">
                  <a:latin typeface="Cambria" panose="02040503050406030204" pitchFamily="18" charset="0"/>
                  <a:ea typeface="Cambria" panose="02040503050406030204" pitchFamily="18" charset="0"/>
                  <a:cs typeface="Arial" panose="020B0604020202020204" pitchFamily="34" charset="0"/>
                </a:endParaRPr>
              </a:p>
              <a:p>
                <a:pPr marL="514350" indent="-514350" algn="just">
                  <a:buAutoNum type="alphaUcPeriod"/>
                </a:pPr>
                <a:r>
                  <a:rPr lang="en-IN" sz="3500" dirty="0">
                    <a:latin typeface="Arial" panose="020B0604020202020204" pitchFamily="34" charset="0"/>
                    <a:cs typeface="Arial" panose="020B0604020202020204" pitchFamily="34" charset="0"/>
                  </a:rPr>
                  <a:t>None of the above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DF3C95F-CF23-876D-B7E7-F112E52BA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045686" cy="6775698"/>
              </a:xfrm>
              <a:prstGeom prst="rect">
                <a:avLst/>
              </a:prstGeom>
              <a:blipFill>
                <a:blip r:embed="rId2"/>
                <a:stretch>
                  <a:fillRect l="-1468" t="-2250" r="-14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8249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29ABD6-9E84-DA5C-FA8E-73EDB43253E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45686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500" dirty="0"/>
              <a:t>8. </a:t>
            </a:r>
            <a:r>
              <a:rPr lang="en-US" sz="3500" dirty="0">
                <a:solidFill>
                  <a:srgbClr val="000000"/>
                </a:solidFill>
                <a:latin typeface="Manrope"/>
              </a:rPr>
              <a:t>The slant height of a right circular cone is 10 m and its height is 8 m, then the area of its curved surface is</a:t>
            </a:r>
          </a:p>
          <a:p>
            <a:pPr algn="l"/>
            <a:endParaRPr lang="en-US" sz="3500" dirty="0">
              <a:solidFill>
                <a:srgbClr val="000000"/>
              </a:solidFill>
              <a:latin typeface="Manrope"/>
            </a:endParaRPr>
          </a:p>
          <a:p>
            <a:pPr algn="l"/>
            <a:r>
              <a:rPr lang="en-US" sz="3500" dirty="0">
                <a:solidFill>
                  <a:srgbClr val="000000"/>
                </a:solidFill>
                <a:latin typeface="Manrope"/>
              </a:rPr>
              <a:t>A. </a:t>
            </a:r>
            <a:r>
              <a:rPr lang="en-US" sz="3500" dirty="0">
                <a:solidFill>
                  <a:srgbClr val="000000"/>
                </a:solidFill>
                <a:latin typeface="KaTeX_Main"/>
              </a:rPr>
              <a:t>80πm2</a:t>
            </a:r>
            <a:endParaRPr lang="en-US" sz="3500" dirty="0">
              <a:solidFill>
                <a:srgbClr val="000000"/>
              </a:solidFill>
              <a:latin typeface="Manrope"/>
            </a:endParaRPr>
          </a:p>
          <a:p>
            <a:pPr algn="l"/>
            <a:r>
              <a:rPr lang="en-US" sz="3500" dirty="0">
                <a:solidFill>
                  <a:srgbClr val="000000"/>
                </a:solidFill>
                <a:latin typeface="Manrope"/>
              </a:rPr>
              <a:t>B. </a:t>
            </a:r>
            <a:r>
              <a:rPr lang="en-US" sz="3500" dirty="0">
                <a:solidFill>
                  <a:srgbClr val="000000"/>
                </a:solidFill>
                <a:latin typeface="KaTeX_Main"/>
              </a:rPr>
              <a:t>60πm2</a:t>
            </a:r>
            <a:endParaRPr lang="en-US" sz="3500" dirty="0">
              <a:solidFill>
                <a:srgbClr val="000000"/>
              </a:solidFill>
              <a:latin typeface="Manrope"/>
            </a:endParaRPr>
          </a:p>
          <a:p>
            <a:pPr algn="l"/>
            <a:r>
              <a:rPr lang="en-US" sz="3500" dirty="0">
                <a:solidFill>
                  <a:srgbClr val="000000"/>
                </a:solidFill>
                <a:latin typeface="Manrope"/>
              </a:rPr>
              <a:t>C. </a:t>
            </a:r>
            <a:r>
              <a:rPr lang="en-US" sz="3500" dirty="0">
                <a:solidFill>
                  <a:srgbClr val="000000"/>
                </a:solidFill>
                <a:latin typeface="KaTeX_Main"/>
              </a:rPr>
              <a:t>65πm2</a:t>
            </a:r>
            <a:endParaRPr lang="en-US" sz="3500" dirty="0">
              <a:solidFill>
                <a:srgbClr val="000000"/>
              </a:solidFill>
              <a:latin typeface="Manrope"/>
            </a:endParaRPr>
          </a:p>
          <a:p>
            <a:pPr algn="l"/>
            <a:r>
              <a:rPr lang="en-US" sz="3500" dirty="0">
                <a:solidFill>
                  <a:srgbClr val="000000"/>
                </a:solidFill>
                <a:latin typeface="Manrope"/>
              </a:rPr>
              <a:t>D. </a:t>
            </a:r>
            <a:r>
              <a:rPr lang="en-US" sz="3500" dirty="0">
                <a:solidFill>
                  <a:srgbClr val="000000"/>
                </a:solidFill>
                <a:latin typeface="KaTeX_Main"/>
              </a:rPr>
              <a:t>70πm2</a:t>
            </a:r>
            <a:endParaRPr lang="en-US" sz="3500" dirty="0">
              <a:solidFill>
                <a:srgbClr val="000000"/>
              </a:solidFill>
              <a:latin typeface="Manrope"/>
            </a:endParaRPr>
          </a:p>
          <a:p>
            <a:br>
              <a:rPr lang="en-US" sz="3500" dirty="0">
                <a:solidFill>
                  <a:srgbClr val="1F8FFB"/>
                </a:solidFill>
                <a:latin typeface="Manrope"/>
                <a:hlinkClick r:id="rId2"/>
              </a:rPr>
            </a:b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148802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C275D8-28A4-0A39-FCB2-E1F7430C4CCF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045686" cy="6665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500" dirty="0"/>
              <a:t>9. </a:t>
            </a:r>
            <a:r>
              <a:rPr lang="en-US" sz="3500" dirty="0">
                <a:solidFill>
                  <a:srgbClr val="000000"/>
                </a:solidFill>
                <a:latin typeface="Manrope"/>
              </a:rPr>
              <a:t>A hemisphere and a cone have equal bases. If their height are also equal, then the ratio of their curve surfaces will be:</a:t>
            </a:r>
          </a:p>
          <a:p>
            <a:pPr algn="just"/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3774985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FADD5C-F1C6-4518-FF58-8207B976BED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45686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500" dirty="0"/>
              <a:t>10. </a:t>
            </a:r>
            <a:r>
              <a:rPr lang="en-US" sz="3500" dirty="0">
                <a:solidFill>
                  <a:srgbClr val="2A2A2A"/>
                </a:solidFill>
                <a:latin typeface="objektiv-mk3"/>
              </a:rPr>
              <a:t>A tank is 25m long 12m wide and 6m deep. The cost of plastering its walls and bottom at 75 paise per sq m is</a:t>
            </a:r>
          </a:p>
          <a:p>
            <a:pPr algn="just"/>
            <a:endParaRPr lang="en-US" sz="3500" dirty="0">
              <a:solidFill>
                <a:srgbClr val="2A2A2A"/>
              </a:solidFill>
              <a:latin typeface="objektiv-mk3"/>
            </a:endParaRPr>
          </a:p>
          <a:p>
            <a:pPr algn="just"/>
            <a:r>
              <a:rPr lang="en-US" sz="3500" dirty="0">
                <a:solidFill>
                  <a:srgbClr val="2A2A2A"/>
                </a:solidFill>
                <a:latin typeface="objektiv-mk3"/>
              </a:rPr>
              <a:t>A) Rs.</a:t>
            </a:r>
            <a:r>
              <a:rPr lang="en-US" sz="3500" dirty="0"/>
              <a:t>  258</a:t>
            </a:r>
          </a:p>
          <a:p>
            <a:pPr algn="just"/>
            <a:r>
              <a:rPr lang="en-US" sz="3500" dirty="0">
                <a:solidFill>
                  <a:srgbClr val="2A2A2A"/>
                </a:solidFill>
                <a:latin typeface="objektiv-mk3"/>
              </a:rPr>
              <a:t>B) Rs. 358</a:t>
            </a:r>
          </a:p>
          <a:p>
            <a:pPr algn="just"/>
            <a:r>
              <a:rPr lang="en-US" sz="3500" dirty="0">
                <a:solidFill>
                  <a:srgbClr val="2A2A2A"/>
                </a:solidFill>
                <a:latin typeface="objektiv-mk3"/>
              </a:rPr>
              <a:t>C) Rs. 458</a:t>
            </a:r>
          </a:p>
          <a:p>
            <a:pPr algn="just"/>
            <a:r>
              <a:rPr lang="en-US" sz="3500" dirty="0">
                <a:solidFill>
                  <a:srgbClr val="2A2A2A"/>
                </a:solidFill>
                <a:latin typeface="objektiv-mk3"/>
              </a:rPr>
              <a:t>D) Rs. 558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3636513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FD5506F-5741-1283-520D-A02DBD42FC12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045686" cy="6665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500" dirty="0"/>
              <a:t>11. </a:t>
            </a:r>
            <a:r>
              <a:rPr lang="en-US" sz="3500" dirty="0">
                <a:solidFill>
                  <a:srgbClr val="000000"/>
                </a:solidFill>
                <a:latin typeface="Manrope"/>
              </a:rPr>
              <a:t>A cistern </a:t>
            </a:r>
            <a:r>
              <a:rPr lang="en-US" sz="3500" dirty="0">
                <a:solidFill>
                  <a:srgbClr val="000000"/>
                </a:solidFill>
                <a:latin typeface="KaTeX_Main"/>
              </a:rPr>
              <a:t>6</a:t>
            </a:r>
            <a:r>
              <a:rPr lang="en-US" sz="3500" dirty="0">
                <a:solidFill>
                  <a:srgbClr val="000000"/>
                </a:solidFill>
                <a:latin typeface="Manrope"/>
              </a:rPr>
              <a:t>m long and </a:t>
            </a:r>
            <a:r>
              <a:rPr lang="en-US" sz="3500" dirty="0">
                <a:solidFill>
                  <a:srgbClr val="000000"/>
                </a:solidFill>
                <a:latin typeface="KaTeX_Main"/>
              </a:rPr>
              <a:t>4</a:t>
            </a:r>
            <a:r>
              <a:rPr lang="en-US" sz="3500" dirty="0">
                <a:solidFill>
                  <a:srgbClr val="000000"/>
                </a:solidFill>
                <a:latin typeface="Manrope"/>
              </a:rPr>
              <a:t>m wide contains water up to a depth of </a:t>
            </a:r>
            <a:r>
              <a:rPr lang="en-US" sz="3500" dirty="0">
                <a:solidFill>
                  <a:srgbClr val="000000"/>
                </a:solidFill>
                <a:latin typeface="KaTeX_Main"/>
              </a:rPr>
              <a:t>1</a:t>
            </a:r>
            <a:r>
              <a:rPr lang="en-US" sz="3500" dirty="0">
                <a:solidFill>
                  <a:srgbClr val="000000"/>
                </a:solidFill>
                <a:latin typeface="Manrope"/>
              </a:rPr>
              <a:t>.25m. The total area of the wet surface is:</a:t>
            </a:r>
          </a:p>
          <a:p>
            <a:br>
              <a:rPr lang="en-US" sz="3500" dirty="0">
                <a:solidFill>
                  <a:srgbClr val="000000"/>
                </a:solidFill>
                <a:latin typeface="Manrope"/>
              </a:rPr>
            </a:br>
            <a:r>
              <a:rPr lang="en-US" sz="3500" dirty="0">
                <a:solidFill>
                  <a:srgbClr val="000000"/>
                </a:solidFill>
                <a:latin typeface="Manrope"/>
              </a:rPr>
              <a:t>   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7350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EF5606-604F-CC18-F4D7-B2B05687323D}"/>
              </a:ext>
            </a:extLst>
          </p:cNvPr>
          <p:cNvSpPr txBox="1">
            <a:spLocks/>
          </p:cNvSpPr>
          <p:nvPr/>
        </p:nvSpPr>
        <p:spPr>
          <a:xfrm>
            <a:off x="0" y="117211"/>
            <a:ext cx="12045686" cy="6521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500" dirty="0"/>
              <a:t>12. </a:t>
            </a:r>
            <a:r>
              <a:rPr lang="en-US" sz="3500" dirty="0">
                <a:solidFill>
                  <a:srgbClr val="2A2A2A"/>
                </a:solidFill>
                <a:latin typeface="objektiv-mk3"/>
              </a:rPr>
              <a:t>The area of a rectangle is 460 square </a:t>
            </a:r>
            <a:r>
              <a:rPr lang="en-US" sz="3500" dirty="0" err="1">
                <a:solidFill>
                  <a:srgbClr val="2A2A2A"/>
                </a:solidFill>
                <a:latin typeface="objektiv-mk3"/>
              </a:rPr>
              <a:t>metres</a:t>
            </a:r>
            <a:r>
              <a:rPr lang="en-US" sz="3500" dirty="0">
                <a:solidFill>
                  <a:srgbClr val="2A2A2A"/>
                </a:solidFill>
                <a:latin typeface="objektiv-mk3"/>
              </a:rPr>
              <a:t>. If the length is 15% more than the breadth, what is the breadth of the rectangular field?</a:t>
            </a:r>
          </a:p>
          <a:p>
            <a:pPr algn="l"/>
            <a:endParaRPr lang="en-US" sz="3500" dirty="0">
              <a:solidFill>
                <a:srgbClr val="2A2A2A"/>
              </a:solidFill>
              <a:latin typeface="objektiv-mk3"/>
            </a:endParaRP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>
                <a:solidFill>
                  <a:srgbClr val="2A2A2A"/>
                </a:solidFill>
                <a:latin typeface="objektiv-mk3"/>
              </a:rPr>
              <a:t>20 m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>
                <a:solidFill>
                  <a:srgbClr val="2A2A2A"/>
                </a:solidFill>
                <a:latin typeface="objektiv-mk3"/>
              </a:rPr>
              <a:t>30 m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>
                <a:solidFill>
                  <a:srgbClr val="2A2A2A"/>
                </a:solidFill>
                <a:latin typeface="objektiv-mk3"/>
              </a:rPr>
              <a:t>40 m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>
                <a:solidFill>
                  <a:srgbClr val="2A2A2A"/>
                </a:solidFill>
                <a:latin typeface="objektiv-mk3"/>
              </a:rPr>
              <a:t>50 m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2379012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52C049-B331-49AF-A276-4B3FD1A64D1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45686" cy="685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500" dirty="0"/>
              <a:t>13. </a:t>
            </a:r>
            <a:r>
              <a:rPr lang="en-US" sz="3500" dirty="0">
                <a:solidFill>
                  <a:srgbClr val="2A2A2A"/>
                </a:solidFill>
                <a:latin typeface="objektiv-mk3"/>
              </a:rPr>
              <a:t>What will be the cost of building a fence around a square plot with area equal to 289 sq ft, if the price per foot of building the fence is Rs. 58 ?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/>
              <a:t>Rs. 3748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/>
              <a:t>Rs. 3847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/>
              <a:t>Rs. 3944 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/>
              <a:t>Rs. 3866</a:t>
            </a:r>
          </a:p>
          <a:p>
            <a:br>
              <a:rPr lang="en-US" sz="3500" dirty="0"/>
            </a:b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908509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F461BF-6862-5C28-6940-8BAEF19CBE0E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045686" cy="6665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500" dirty="0"/>
              <a:t>14. </a:t>
            </a:r>
            <a:r>
              <a:rPr lang="en-US" sz="3500" dirty="0">
                <a:latin typeface="ubuntu"/>
              </a:rPr>
              <a:t>The curved surface area of a cylinder is 264 m2 and its volume is 924 m3. Find the ratio of its diameter to its height.</a:t>
            </a:r>
          </a:p>
          <a:p>
            <a:pPr algn="l"/>
            <a:endParaRPr lang="en-US" sz="3500" dirty="0">
              <a:latin typeface="ubuntu"/>
            </a:endParaRP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>
                <a:latin typeface="ubuntu"/>
              </a:rPr>
              <a:t>6 : 7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>
                <a:latin typeface="ubuntu"/>
              </a:rPr>
              <a:t>7 : 6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>
                <a:latin typeface="ubuntu"/>
              </a:rPr>
              <a:t>3 : 7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US" sz="3500" dirty="0">
                <a:latin typeface="ubuntu"/>
              </a:rPr>
              <a:t>7 : 3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2674182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471745-D59A-49CF-EF2D-2B7AF9A07B70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045686" cy="6665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500" dirty="0"/>
              <a:t>15. </a:t>
            </a:r>
            <a:r>
              <a:rPr lang="en-US" sz="3500" dirty="0">
                <a:solidFill>
                  <a:srgbClr val="000000"/>
                </a:solidFill>
                <a:latin typeface="Manrope"/>
              </a:rPr>
              <a:t>The curved surface area of a cylinder is </a:t>
            </a:r>
            <a:r>
              <a:rPr lang="en-US" sz="3500" dirty="0">
                <a:solidFill>
                  <a:srgbClr val="000000"/>
                </a:solidFill>
                <a:latin typeface="KaTeX_Main"/>
              </a:rPr>
              <a:t>4400  cm 2</a:t>
            </a:r>
            <a:r>
              <a:rPr lang="en-US" sz="3500" dirty="0">
                <a:solidFill>
                  <a:srgbClr val="000000"/>
                </a:solidFill>
                <a:latin typeface="Manrope"/>
              </a:rPr>
              <a:t> and the circumference of its base is </a:t>
            </a:r>
            <a:r>
              <a:rPr lang="en-US" sz="3500" dirty="0">
                <a:solidFill>
                  <a:srgbClr val="000000"/>
                </a:solidFill>
                <a:latin typeface="KaTeX_Main"/>
              </a:rPr>
              <a:t>110</a:t>
            </a:r>
            <a:r>
              <a:rPr lang="en-US" sz="3500" dirty="0">
                <a:solidFill>
                  <a:srgbClr val="000000"/>
                </a:solidFill>
                <a:latin typeface="Manrope"/>
              </a:rPr>
              <a:t> cm. Find the height and the volume of the cylinder.</a:t>
            </a:r>
          </a:p>
          <a:p>
            <a:pPr algn="l"/>
            <a:endParaRPr lang="en-IN" sz="3500" dirty="0"/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IN" sz="3500" dirty="0"/>
              <a:t>40 cm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IN" sz="3500" dirty="0"/>
              <a:t>50 cm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IN" sz="3500" dirty="0"/>
              <a:t>100 cm</a:t>
            </a:r>
          </a:p>
          <a:p>
            <a:pPr marL="514350" indent="-514350" algn="l">
              <a:buFont typeface="Arial" panose="020B0604020202020204" pitchFamily="34" charset="0"/>
              <a:buAutoNum type="alphaUcParenR"/>
            </a:pPr>
            <a:r>
              <a:rPr lang="en-IN" sz="3500" dirty="0"/>
              <a:t>80 cm</a:t>
            </a:r>
          </a:p>
        </p:txBody>
      </p:sp>
    </p:spTree>
    <p:extLst>
      <p:ext uri="{BB962C8B-B14F-4D97-AF65-F5344CB8AC3E}">
        <p14:creationId xmlns:p14="http://schemas.microsoft.com/office/powerpoint/2010/main" val="1370691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EF9238-8700-9CD9-BFCB-F65E43A53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55798"/>
            <a:ext cx="11866174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00"/>
                </a:solidFill>
                <a:latin typeface="ProximaNova"/>
              </a:rPr>
              <a:t>16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roximaNova"/>
              </a:rPr>
              <a:t>. The radius of a metallic sphere is 7 cm . if it melted and mold in some cones of radius 7 cm and height of 4 cm , then how many cones will be produced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000000"/>
              </a:solidFill>
              <a:latin typeface="ProximaNova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ProximaNova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arenR"/>
              <a:tabLst/>
            </a:pPr>
            <a:r>
              <a:rPr lang="en-US" altLang="en-US" sz="2000" dirty="0"/>
              <a:t>7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arenR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arenR"/>
              <a:tabLst/>
            </a:pPr>
            <a:r>
              <a:rPr lang="en-US" altLang="en-US" sz="2000" dirty="0"/>
              <a:t>10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arenR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124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9F278A-F7C5-3B9D-103D-F6C54F48C4F4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192000" cy="6665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/>
              <a:t>17. </a:t>
            </a:r>
            <a:r>
              <a:rPr lang="en-US" sz="2000">
                <a:solidFill>
                  <a:srgbClr val="000000"/>
                </a:solidFill>
                <a:latin typeface="Helvetica Neue"/>
              </a:rPr>
              <a:t>The diagonal of the floor of a rectangular closet is 7.5 feet. The shorter side of the closet is 4.5 feet. What is the area of the closet in square feet?</a:t>
            </a:r>
          </a:p>
          <a:p>
            <a:pPr marL="514350" indent="-514350" algn="l">
              <a:buFont typeface="Arial" panose="020B0604020202020204" pitchFamily="34" charset="0"/>
              <a:buAutoNum type="alphaLcParenR"/>
            </a:pPr>
            <a:r>
              <a:rPr lang="en-US" sz="2000">
                <a:solidFill>
                  <a:srgbClr val="000000"/>
                </a:solidFill>
                <a:latin typeface="Helvetica Neue"/>
              </a:rPr>
              <a:t>5</a:t>
            </a:r>
          </a:p>
          <a:p>
            <a:pPr marL="514350" indent="-514350" algn="l">
              <a:buFont typeface="Arial" panose="020B0604020202020204" pitchFamily="34" charset="0"/>
              <a:buAutoNum type="alphaLcParenR"/>
            </a:pPr>
            <a:r>
              <a:rPr lang="en-US" sz="2000">
                <a:solidFill>
                  <a:srgbClr val="000000"/>
                </a:solidFill>
                <a:latin typeface="Helvetica Neue"/>
              </a:rPr>
              <a:t>13</a:t>
            </a:r>
          </a:p>
          <a:p>
            <a:pPr marL="514350" indent="-514350" algn="l">
              <a:buFont typeface="Arial" panose="020B0604020202020204" pitchFamily="34" charset="0"/>
              <a:buAutoNum type="alphaLcParenR"/>
            </a:pPr>
            <a:r>
              <a:rPr lang="en-US" sz="2000">
                <a:solidFill>
                  <a:srgbClr val="000000"/>
                </a:solidFill>
                <a:latin typeface="Helvetica Neue"/>
              </a:rPr>
              <a:t>27</a:t>
            </a:r>
          </a:p>
          <a:p>
            <a:pPr marL="514350" indent="-514350" algn="l">
              <a:buFont typeface="Arial" panose="020B0604020202020204" pitchFamily="34" charset="0"/>
              <a:buAutoNum type="alphaLcParenR"/>
            </a:pPr>
            <a:r>
              <a:rPr lang="en-US" sz="2000">
                <a:solidFill>
                  <a:srgbClr val="000000"/>
                </a:solidFill>
                <a:latin typeface="Helvetica Neue"/>
              </a:rPr>
              <a:t>37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>
              <a:solidFill>
                <a:srgbClr val="000000"/>
              </a:solidFill>
              <a:latin typeface="Helvetica Neue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554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0EC5-91C5-4058-96FB-9767236F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26229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latin typeface="Houschka Rounded Alt DemiBold" panose="020F0703000000020003" pitchFamily="34" charset="0"/>
              </a:rPr>
              <a:t>THANK YOU</a:t>
            </a:r>
            <a:endParaRPr lang="en-IN" sz="3500" dirty="0">
              <a:latin typeface="Houschka Rounded Alt DemiBold" panose="020F070300000002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333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658</Words>
  <Application>Microsoft Office PowerPoint</Application>
  <PresentationFormat>Widescreen</PresentationFormat>
  <Paragraphs>86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Cambria Math</vt:lpstr>
      <vt:lpstr>Helvetica Neue</vt:lpstr>
      <vt:lpstr>Houschka Rounded Alt DemiBold</vt:lpstr>
      <vt:lpstr>inherit</vt:lpstr>
      <vt:lpstr>KaTeX_Main</vt:lpstr>
      <vt:lpstr>Manrope</vt:lpstr>
      <vt:lpstr>objektiv-mk3</vt:lpstr>
      <vt:lpstr>Open Sans</vt:lpstr>
      <vt:lpstr>ProximaNova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 Basha</dc:creator>
  <cp:lastModifiedBy>Chand Basha</cp:lastModifiedBy>
  <cp:revision>10</cp:revision>
  <dcterms:created xsi:type="dcterms:W3CDTF">2022-07-21T09:36:32Z</dcterms:created>
  <dcterms:modified xsi:type="dcterms:W3CDTF">2023-02-28T19:39:22Z</dcterms:modified>
</cp:coreProperties>
</file>